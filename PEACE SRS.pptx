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5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67" r:id="rId21"/>
  </p:sldIdLst>
  <p:sldSz cx="6858000" cy="9906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64" autoAdjust="0"/>
    <p:restoredTop sz="94660"/>
  </p:normalViewPr>
  <p:slideViewPr>
    <p:cSldViewPr snapToGrid="0">
      <p:cViewPr varScale="1">
        <p:scale>
          <a:sx n="52" d="100"/>
          <a:sy n="52" d="100"/>
        </p:scale>
        <p:origin x="109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E6E86-FFD4-4B0A-B546-EDA85FEAFDA3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3BC3-7F30-4A47-A858-D36CA2A2E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713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E6E86-FFD4-4B0A-B546-EDA85FEAFDA3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3BC3-7F30-4A47-A858-D36CA2A2E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046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E6E86-FFD4-4B0A-B546-EDA85FEAFDA3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3BC3-7F30-4A47-A858-D36CA2A2E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45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E6E86-FFD4-4B0A-B546-EDA85FEAFDA3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3BC3-7F30-4A47-A858-D36CA2A2E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383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E6E86-FFD4-4B0A-B546-EDA85FEAFDA3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3BC3-7F30-4A47-A858-D36CA2A2E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143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E6E86-FFD4-4B0A-B546-EDA85FEAFDA3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3BC3-7F30-4A47-A858-D36CA2A2E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111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E6E86-FFD4-4B0A-B546-EDA85FEAFDA3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3BC3-7F30-4A47-A858-D36CA2A2E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96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E6E86-FFD4-4B0A-B546-EDA85FEAFDA3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3BC3-7F30-4A47-A858-D36CA2A2E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711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E6E86-FFD4-4B0A-B546-EDA85FEAFDA3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3BC3-7F30-4A47-A858-D36CA2A2E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601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E6E86-FFD4-4B0A-B546-EDA85FEAFDA3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3BC3-7F30-4A47-A858-D36CA2A2E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610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E6E86-FFD4-4B0A-B546-EDA85FEAFDA3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E3BC3-7F30-4A47-A858-D36CA2A2E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83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3E6E86-FFD4-4B0A-B546-EDA85FEAFDA3}" type="datetimeFigureOut">
              <a:rPr lang="en-US" smtClean="0"/>
              <a:t>3/14/2022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2E3BC3-7F30-4A47-A858-D36CA2A2E3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55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48992"/>
            <a:ext cx="5143500" cy="239165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514350" y="2255900"/>
            <a:ext cx="5829300" cy="1102519"/>
          </a:xfrm>
          <a:prstGeom prst="rect">
            <a:avLst/>
          </a:prstGeom>
        </p:spPr>
        <p:txBody>
          <a:bodyPr vert="horz" lIns="68580" tIns="34290" rIns="68580" bIns="3429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500" dirty="0">
                <a:solidFill>
                  <a:srgbClr val="FF0000"/>
                </a:solidFill>
              </a:rPr>
              <a:t/>
            </a:r>
            <a:br>
              <a:rPr lang="en-US" sz="4500" dirty="0">
                <a:solidFill>
                  <a:srgbClr val="FF0000"/>
                </a:solidFill>
              </a:rPr>
            </a:br>
            <a:endParaRPr lang="en-US" sz="4500" dirty="0">
              <a:solidFill>
                <a:srgbClr val="FF0000"/>
              </a:solidFill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215579" y="3570348"/>
            <a:ext cx="4800600" cy="131445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/>
            </a:r>
            <a:br>
              <a:rPr lang="en-US" sz="1800" dirty="0"/>
            </a:br>
            <a:endParaRPr lang="en-US" sz="1800" dirty="0"/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215579" y="3570348"/>
            <a:ext cx="4800600" cy="131445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4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4" r="4684"/>
          <a:stretch/>
        </p:blipFill>
        <p:spPr>
          <a:xfrm>
            <a:off x="191729" y="1485359"/>
            <a:ext cx="6474542" cy="679887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86083" y="221226"/>
            <a:ext cx="6480188" cy="9424219"/>
          </a:xfrm>
          <a:prstGeom prst="rect">
            <a:avLst/>
          </a:prstGeom>
          <a:solidFill>
            <a:schemeClr val="bg1">
              <a:lumMod val="85000"/>
              <a:alpha val="9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9" name="TextBox 8"/>
          <p:cNvSpPr txBox="1"/>
          <p:nvPr/>
        </p:nvSpPr>
        <p:spPr>
          <a:xfrm>
            <a:off x="2547648" y="3918116"/>
            <a:ext cx="4647236" cy="2793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 err="1">
                <a:latin typeface="Trebuchet MS" panose="020B0603020202020204" pitchFamily="34" charset="0"/>
              </a:rPr>
              <a:t>Munim</a:t>
            </a:r>
            <a:r>
              <a:rPr lang="en-US" sz="2100" b="1" dirty="0">
                <a:latin typeface="Trebuchet MS" panose="020B0603020202020204" pitchFamily="34" charset="0"/>
              </a:rPr>
              <a:t> </a:t>
            </a:r>
            <a:r>
              <a:rPr lang="en-US" sz="2100" b="1" dirty="0" err="1">
                <a:latin typeface="Trebuchet MS" panose="020B0603020202020204" pitchFamily="34" charset="0"/>
              </a:rPr>
              <a:t>Ahemd</a:t>
            </a:r>
            <a:r>
              <a:rPr lang="en-US" sz="2100" b="1" dirty="0">
                <a:latin typeface="Trebuchet MS" panose="020B0603020202020204" pitchFamily="34" charset="0"/>
              </a:rPr>
              <a:t> </a:t>
            </a:r>
            <a:r>
              <a:rPr lang="bn-BD" sz="2100" b="1" dirty="0">
                <a:latin typeface="Trebuchet MS" panose="020B0603020202020204" pitchFamily="34" charset="0"/>
              </a:rPr>
              <a:t/>
            </a:r>
            <a:br>
              <a:rPr lang="bn-BD" sz="2100" b="1" dirty="0">
                <a:latin typeface="Trebuchet MS" panose="020B0603020202020204" pitchFamily="34" charset="0"/>
              </a:rPr>
            </a:br>
            <a:r>
              <a:rPr lang="en-US" sz="2100" b="1" dirty="0">
                <a:latin typeface="Trebuchet MS" panose="020B0603020202020204" pitchFamily="34" charset="0"/>
              </a:rPr>
              <a:t>(192-35-477)</a:t>
            </a:r>
            <a:r>
              <a:rPr lang="en-US" sz="2100" dirty="0">
                <a:solidFill>
                  <a:schemeClr val="bg1"/>
                </a:solidFill>
              </a:rPr>
              <a:t/>
            </a:r>
            <a:br>
              <a:rPr lang="en-US" sz="2100" dirty="0">
                <a:solidFill>
                  <a:schemeClr val="bg1"/>
                </a:solidFill>
              </a:rPr>
            </a:br>
            <a:r>
              <a:rPr lang="en-US" sz="2100" dirty="0">
                <a:solidFill>
                  <a:schemeClr val="bg1"/>
                </a:solidFill>
              </a:rPr>
              <a:t/>
            </a:r>
            <a:br>
              <a:rPr lang="en-US" sz="2100" dirty="0">
                <a:solidFill>
                  <a:schemeClr val="bg1"/>
                </a:solidFill>
              </a:rPr>
            </a:br>
            <a:r>
              <a:rPr lang="en-US" dirty="0"/>
              <a:t/>
            </a:r>
            <a:br>
              <a:rPr lang="en-US" dirty="0"/>
            </a:br>
            <a:r>
              <a:rPr lang="en-US" sz="1350" dirty="0"/>
              <a:t/>
            </a:r>
            <a:br>
              <a:rPr lang="en-US" sz="1350" dirty="0"/>
            </a:br>
            <a:r>
              <a:rPr lang="en-US" sz="1350" dirty="0"/>
              <a:t/>
            </a:r>
            <a:br>
              <a:rPr lang="en-US" sz="1350" dirty="0"/>
            </a:br>
            <a:r>
              <a:rPr lang="en-US" sz="1350" dirty="0"/>
              <a:t/>
            </a:r>
            <a:br>
              <a:rPr lang="en-US" sz="1350" dirty="0"/>
            </a:br>
            <a:r>
              <a:rPr lang="en-US" sz="1350" dirty="0"/>
              <a:t/>
            </a:r>
            <a:br>
              <a:rPr lang="en-US" sz="1350" dirty="0"/>
            </a:br>
            <a:r>
              <a:rPr lang="en-US" sz="1350" dirty="0"/>
              <a:t/>
            </a:r>
            <a:br>
              <a:rPr lang="en-US" sz="1350" dirty="0"/>
            </a:br>
            <a:r>
              <a:rPr lang="en-US" sz="1350" dirty="0"/>
              <a:t/>
            </a:r>
            <a:br>
              <a:rPr lang="en-US" sz="1350" dirty="0"/>
            </a:br>
            <a:endParaRPr lang="en-US" sz="1350" dirty="0"/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554204" y="2141599"/>
            <a:ext cx="5829300" cy="1102519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5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300" dirty="0"/>
              <a:t/>
            </a:r>
            <a:br>
              <a:rPr lang="en-US" sz="3300" dirty="0"/>
            </a:br>
            <a:r>
              <a:rPr lang="en-US" sz="4500" dirty="0"/>
              <a:t> </a:t>
            </a:r>
            <a:br>
              <a:rPr lang="en-US" sz="4500" dirty="0"/>
            </a:br>
            <a:r>
              <a:rPr lang="en-US" sz="4500" dirty="0"/>
              <a:t>                     </a:t>
            </a:r>
            <a:r>
              <a:rPr lang="en-US" sz="4500" b="1" dirty="0">
                <a:latin typeface="Comic Sans MS" panose="030F0702030302020204" pitchFamily="66" charset="0"/>
              </a:rPr>
              <a:t>“</a:t>
            </a:r>
            <a:r>
              <a:rPr lang="bn-BD" sz="4500" b="1" dirty="0">
                <a:latin typeface="Comic Sans MS" panose="030F0702030302020204" pitchFamily="66" charset="0"/>
              </a:rPr>
              <a:t>PEACE</a:t>
            </a:r>
            <a:r>
              <a:rPr lang="en-US" sz="4500" b="1" dirty="0">
                <a:latin typeface="Trebuchet MS" panose="020B0603020202020204" pitchFamily="34" charset="0"/>
              </a:rPr>
              <a:t>”</a:t>
            </a:r>
            <a:r>
              <a:rPr lang="en-US" sz="2025" b="1" dirty="0">
                <a:latin typeface="Trebuchet MS" panose="020B0603020202020204" pitchFamily="34" charset="0"/>
              </a:rPr>
              <a:t>(</a:t>
            </a:r>
            <a:r>
              <a:rPr lang="bn-BD" sz="2025" dirty="0">
                <a:latin typeface="Trebuchet MS" panose="020B0603020202020204" pitchFamily="34" charset="0"/>
              </a:rPr>
              <a:t>A relaxation in your pocket</a:t>
            </a:r>
            <a:r>
              <a:rPr lang="en-US" sz="2025" dirty="0">
                <a:latin typeface="Trebuchet MS" panose="020B0603020202020204" pitchFamily="34" charset="0"/>
              </a:rPr>
              <a:t>)</a:t>
            </a:r>
            <a:r>
              <a:rPr lang="en-US" sz="2025" dirty="0"/>
              <a:t/>
            </a:r>
            <a:br>
              <a:rPr lang="en-US" sz="2025" dirty="0"/>
            </a:br>
            <a:endParaRPr lang="en-US" sz="2025" dirty="0"/>
          </a:p>
        </p:txBody>
      </p:sp>
      <p:sp>
        <p:nvSpPr>
          <p:cNvPr id="12" name="Rounded Rectangle 11"/>
          <p:cNvSpPr/>
          <p:nvPr/>
        </p:nvSpPr>
        <p:spPr>
          <a:xfrm flipV="1">
            <a:off x="1428750" y="3083727"/>
            <a:ext cx="4286250" cy="34289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Rectangle 12"/>
          <p:cNvSpPr/>
          <p:nvPr/>
        </p:nvSpPr>
        <p:spPr>
          <a:xfrm>
            <a:off x="114301" y="103239"/>
            <a:ext cx="6629401" cy="9660193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TextBox 14"/>
          <p:cNvSpPr txBox="1"/>
          <p:nvPr/>
        </p:nvSpPr>
        <p:spPr>
          <a:xfrm>
            <a:off x="554204" y="4988272"/>
            <a:ext cx="578944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BD" b="1" dirty="0">
                <a:latin typeface="Comic Sans MS" panose="030F0702030302020204" pitchFamily="66" charset="0"/>
              </a:rPr>
              <a:t>PEACE</a:t>
            </a:r>
            <a:r>
              <a:rPr lang="bn-BD" dirty="0"/>
              <a:t> is a meditation app that helps and process a depressed,anxiety and stress soul to a healthy,shine and beautiful mind.For those we make this app in an art to visible and virtual</a:t>
            </a:r>
            <a:br>
              <a:rPr lang="bn-BD" dirty="0"/>
            </a:br>
            <a:r>
              <a:rPr lang="bn-BD" dirty="0"/>
              <a:t>world.</a:t>
            </a:r>
            <a:br>
              <a:rPr lang="bn-BD" dirty="0"/>
            </a:br>
            <a:r>
              <a:rPr lang="bn-BD" dirty="0"/>
              <a:t>Our motto-  </a:t>
            </a:r>
            <a:r>
              <a:rPr lang="bn-BD" dirty="0">
                <a:latin typeface="Trebuchet MS" panose="020B0603020202020204" pitchFamily="34" charset="0"/>
              </a:rPr>
              <a:t>‘A relaxation in your pocket’</a:t>
            </a:r>
            <a:endParaRPr lang="en-US" dirty="0">
              <a:latin typeface="Trebuchet MS" panose="020B0603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1331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4632042" y="2042540"/>
            <a:ext cx="50537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23149" y="524041"/>
            <a:ext cx="4493171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Software Requirement Specification </a:t>
            </a:r>
            <a:br>
              <a:rPr lang="en-US" sz="2000" b="1" dirty="0"/>
            </a:br>
            <a:r>
              <a:rPr lang="en-US" sz="2000" dirty="0">
                <a:solidFill>
                  <a:srgbClr val="C00000"/>
                </a:solidFill>
                <a:latin typeface="Comic Sans MS" pitchFamily="66" charset="0"/>
              </a:rPr>
              <a:t>PEACE</a:t>
            </a:r>
            <a:br>
              <a:rPr lang="en-US" sz="2000" dirty="0">
                <a:solidFill>
                  <a:srgbClr val="C00000"/>
                </a:solidFill>
                <a:latin typeface="Comic Sans MS" pitchFamily="66" charset="0"/>
              </a:rPr>
            </a:br>
            <a:r>
              <a:rPr lang="en-US" sz="2000" b="1" dirty="0">
                <a:latin typeface="Trebuchet MS" panose="020B0603020202020204" pitchFamily="34" charset="0"/>
              </a:rPr>
              <a:t>(</a:t>
            </a:r>
            <a:r>
              <a:rPr lang="bn-BD" sz="2000" dirty="0">
                <a:latin typeface="Trebuchet MS" panose="020B0603020202020204" pitchFamily="34" charset="0"/>
              </a:rPr>
              <a:t>A relaxation in your pocket</a:t>
            </a:r>
            <a:r>
              <a:rPr lang="en-US" sz="2000" dirty="0">
                <a:latin typeface="Trebuchet MS" panose="020B0603020202020204" pitchFamily="34" charset="0"/>
              </a:rPr>
              <a:t>)</a:t>
            </a:r>
            <a:br>
              <a:rPr lang="en-US" sz="2000" dirty="0">
                <a:latin typeface="Trebuchet MS" panose="020B0603020202020204" pitchFamily="34" charset="0"/>
              </a:rPr>
            </a:br>
            <a:r>
              <a:rPr lang="en-US" sz="2000" dirty="0">
                <a:latin typeface="Trebuchet MS" panose="020B0603020202020204" pitchFamily="34" charset="0"/>
              </a:rPr>
              <a:t/>
            </a:r>
            <a:br>
              <a:rPr lang="en-US" sz="2000" dirty="0">
                <a:latin typeface="Trebuchet MS" panose="020B0603020202020204" pitchFamily="34" charset="0"/>
              </a:rPr>
            </a:br>
            <a:r>
              <a:rPr lang="en-US" sz="2000" dirty="0" smtClean="0">
                <a:latin typeface="Trebuchet MS" panose="020B0603020202020204" pitchFamily="34" charset="0"/>
              </a:rPr>
              <a:t/>
            </a:r>
            <a:br>
              <a:rPr lang="en-US" sz="2000" dirty="0" smtClean="0">
                <a:latin typeface="Trebuchet MS" panose="020B0603020202020204" pitchFamily="34" charset="0"/>
              </a:rPr>
            </a:br>
            <a:r>
              <a:rPr lang="en-US" sz="2000" b="1" dirty="0" smtClean="0"/>
              <a:t>Table </a:t>
            </a:r>
            <a:r>
              <a:rPr lang="en-US" sz="2000" b="1" dirty="0"/>
              <a:t>of Contents</a:t>
            </a:r>
          </a:p>
          <a:p>
            <a:pPr algn="ctr"/>
            <a:r>
              <a:rPr lang="en-US" sz="2800" b="1" dirty="0"/>
              <a:t/>
            </a:r>
            <a:br>
              <a:rPr lang="en-US" sz="2800" b="1" dirty="0"/>
            </a:br>
            <a:endParaRPr lang="en-US" sz="2800" dirty="0"/>
          </a:p>
        </p:txBody>
      </p:sp>
      <p:sp>
        <p:nvSpPr>
          <p:cNvPr id="21" name="TextBox 20"/>
          <p:cNvSpPr txBox="1"/>
          <p:nvPr/>
        </p:nvSpPr>
        <p:spPr>
          <a:xfrm>
            <a:off x="583753" y="2821955"/>
            <a:ext cx="5571964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b="1" dirty="0">
                <a:latin typeface="+mj-lt"/>
                <a:cs typeface="Arial" pitchFamily="34" charset="0"/>
              </a:rPr>
              <a:t>Chapter1- Introduction</a:t>
            </a:r>
            <a:br>
              <a:rPr lang="en-US" b="1" dirty="0">
                <a:latin typeface="+mj-lt"/>
                <a:cs typeface="Arial" pitchFamily="34" charset="0"/>
              </a:rPr>
            </a:br>
            <a:r>
              <a:rPr lang="en-US" b="1" dirty="0">
                <a:latin typeface="+mj-lt"/>
                <a:cs typeface="Arial" pitchFamily="34" charset="0"/>
              </a:rPr>
              <a:t/>
            </a:r>
            <a:br>
              <a:rPr lang="en-US" b="1" dirty="0">
                <a:latin typeface="+mj-lt"/>
                <a:cs typeface="Arial" pitchFamily="34" charset="0"/>
              </a:rPr>
            </a:br>
            <a:r>
              <a:rPr lang="en-US" b="1" dirty="0">
                <a:latin typeface="+mj-lt"/>
                <a:cs typeface="Arial" pitchFamily="34" charset="0"/>
              </a:rPr>
              <a:t>Chapter2- User Profile</a:t>
            </a:r>
            <a:br>
              <a:rPr lang="en-US" b="1" dirty="0">
                <a:latin typeface="+mj-lt"/>
                <a:cs typeface="Arial" pitchFamily="34" charset="0"/>
              </a:rPr>
            </a:br>
            <a:r>
              <a:rPr lang="en-US" b="1" dirty="0">
                <a:latin typeface="+mj-lt"/>
                <a:cs typeface="Arial" pitchFamily="34" charset="0"/>
              </a:rPr>
              <a:t/>
            </a:r>
            <a:br>
              <a:rPr lang="en-US" b="1" dirty="0">
                <a:latin typeface="+mj-lt"/>
                <a:cs typeface="Arial" pitchFamily="34" charset="0"/>
              </a:rPr>
            </a:br>
            <a:r>
              <a:rPr lang="en-US" b="1" dirty="0">
                <a:latin typeface="+mj-lt"/>
                <a:cs typeface="Arial" pitchFamily="34" charset="0"/>
              </a:rPr>
              <a:t>Chapter3- The list of functional and non-functional requirement with requirement prioritization.</a:t>
            </a:r>
            <a:br>
              <a:rPr lang="en-US" b="1" dirty="0">
                <a:latin typeface="+mj-lt"/>
                <a:cs typeface="Arial" pitchFamily="34" charset="0"/>
              </a:rPr>
            </a:br>
            <a:r>
              <a:rPr lang="en-US" b="1" dirty="0">
                <a:latin typeface="+mj-lt"/>
                <a:cs typeface="Arial" pitchFamily="34" charset="0"/>
              </a:rPr>
              <a:t/>
            </a:r>
            <a:br>
              <a:rPr lang="en-US" b="1" dirty="0">
                <a:latin typeface="+mj-lt"/>
                <a:cs typeface="Arial" pitchFamily="34" charset="0"/>
              </a:rPr>
            </a:br>
            <a:r>
              <a:rPr lang="en-US" b="1" dirty="0" smtClean="0">
                <a:latin typeface="+mj-lt"/>
                <a:cs typeface="Arial" pitchFamily="34" charset="0"/>
              </a:rPr>
              <a:t>Chapter4- Use Case Diagram</a:t>
            </a:r>
            <a:br>
              <a:rPr lang="en-US" b="1" dirty="0" smtClean="0">
                <a:latin typeface="+mj-lt"/>
                <a:cs typeface="Arial" pitchFamily="34" charset="0"/>
              </a:rPr>
            </a:br>
            <a:r>
              <a:rPr lang="en-US" b="1" dirty="0" smtClean="0">
                <a:latin typeface="+mj-lt"/>
                <a:cs typeface="Arial" pitchFamily="34" charset="0"/>
              </a:rPr>
              <a:t/>
            </a:r>
            <a:br>
              <a:rPr lang="en-US" b="1" dirty="0" smtClean="0">
                <a:latin typeface="+mj-lt"/>
                <a:cs typeface="Arial" pitchFamily="34" charset="0"/>
              </a:rPr>
            </a:br>
            <a:r>
              <a:rPr lang="en-US" b="1" dirty="0" smtClean="0">
                <a:latin typeface="+mj-lt"/>
                <a:cs typeface="Arial" pitchFamily="34" charset="0"/>
              </a:rPr>
              <a:t>Chapter5- Entity Relationship Diagram</a:t>
            </a:r>
            <a:r>
              <a:rPr lang="en-US" b="1" dirty="0">
                <a:latin typeface="+mj-lt"/>
                <a:cs typeface="Arial" pitchFamily="34" charset="0"/>
              </a:rPr>
              <a:t/>
            </a:r>
            <a:br>
              <a:rPr lang="en-US" b="1" dirty="0">
                <a:latin typeface="+mj-lt"/>
                <a:cs typeface="Arial" pitchFamily="34" charset="0"/>
              </a:rPr>
            </a:br>
            <a:r>
              <a:rPr lang="en-US" b="1" dirty="0">
                <a:latin typeface="+mj-lt"/>
                <a:cs typeface="Arial" pitchFamily="34" charset="0"/>
              </a:rPr>
              <a:t/>
            </a:r>
            <a:br>
              <a:rPr lang="en-US" b="1" dirty="0">
                <a:latin typeface="+mj-lt"/>
                <a:cs typeface="Arial" pitchFamily="34" charset="0"/>
              </a:rPr>
            </a:br>
            <a:r>
              <a:rPr lang="en-US" b="1" dirty="0" smtClean="0">
                <a:latin typeface="+mj-lt"/>
                <a:cs typeface="Arial" pitchFamily="34" charset="0"/>
              </a:rPr>
              <a:t>Chapter6- Storyboard</a:t>
            </a:r>
            <a:br>
              <a:rPr lang="en-US" b="1" dirty="0" smtClean="0">
                <a:latin typeface="+mj-lt"/>
                <a:cs typeface="Arial" pitchFamily="34" charset="0"/>
              </a:rPr>
            </a:br>
            <a:r>
              <a:rPr lang="en-US" b="1" dirty="0" smtClean="0">
                <a:latin typeface="+mj-lt"/>
                <a:cs typeface="Arial" pitchFamily="34" charset="0"/>
              </a:rPr>
              <a:t/>
            </a:r>
            <a:br>
              <a:rPr lang="en-US" b="1" dirty="0" smtClean="0">
                <a:latin typeface="+mj-lt"/>
                <a:cs typeface="Arial" pitchFamily="34" charset="0"/>
              </a:rPr>
            </a:br>
            <a:r>
              <a:rPr lang="en-US" b="1" dirty="0" smtClean="0">
                <a:latin typeface="+mj-lt"/>
                <a:cs typeface="Arial" pitchFamily="34" charset="0"/>
              </a:rPr>
              <a:t>Chapter7- Database Table</a:t>
            </a:r>
            <a:br>
              <a:rPr lang="en-US" b="1" dirty="0" smtClean="0">
                <a:latin typeface="+mj-lt"/>
                <a:cs typeface="Arial" pitchFamily="34" charset="0"/>
              </a:rPr>
            </a:br>
            <a:r>
              <a:rPr lang="en-US" b="1" dirty="0" smtClean="0">
                <a:latin typeface="+mj-lt"/>
                <a:cs typeface="Arial" pitchFamily="34" charset="0"/>
              </a:rPr>
              <a:t/>
            </a:r>
            <a:br>
              <a:rPr lang="en-US" b="1" dirty="0" smtClean="0">
                <a:latin typeface="+mj-lt"/>
                <a:cs typeface="Arial" pitchFamily="34" charset="0"/>
              </a:rPr>
            </a:br>
            <a:r>
              <a:rPr lang="en-US" b="1" dirty="0" smtClean="0">
                <a:latin typeface="+mj-lt"/>
                <a:cs typeface="Arial" pitchFamily="34" charset="0"/>
              </a:rPr>
              <a:t>Chapter8- Test Case</a:t>
            </a:r>
            <a:br>
              <a:rPr lang="en-US" b="1" dirty="0" smtClean="0">
                <a:latin typeface="+mj-lt"/>
                <a:cs typeface="Arial" pitchFamily="34" charset="0"/>
              </a:rPr>
            </a:br>
            <a:r>
              <a:rPr lang="en-US" b="1" dirty="0" smtClean="0">
                <a:latin typeface="+mj-lt"/>
                <a:cs typeface="Arial" pitchFamily="34" charset="0"/>
              </a:rPr>
              <a:t/>
            </a:r>
            <a:br>
              <a:rPr lang="en-US" b="1" dirty="0" smtClean="0">
                <a:latin typeface="+mj-lt"/>
                <a:cs typeface="Arial" pitchFamily="34" charset="0"/>
              </a:rPr>
            </a:br>
            <a:r>
              <a:rPr lang="en-US" b="1" dirty="0" smtClean="0">
                <a:latin typeface="+mj-lt"/>
                <a:cs typeface="Arial" pitchFamily="34" charset="0"/>
              </a:rPr>
              <a:t>Chapter9- </a:t>
            </a:r>
            <a:r>
              <a:rPr lang="en-US" b="1" dirty="0" err="1" smtClean="0">
                <a:latin typeface="+mj-lt"/>
                <a:cs typeface="Arial" pitchFamily="34" charset="0"/>
              </a:rPr>
              <a:t>Tarceability</a:t>
            </a:r>
            <a:r>
              <a:rPr lang="en-US" b="1" dirty="0" smtClean="0">
                <a:latin typeface="+mj-lt"/>
                <a:cs typeface="Arial" pitchFamily="34" charset="0"/>
              </a:rPr>
              <a:t> Matrix</a:t>
            </a:r>
            <a:br>
              <a:rPr lang="en-US" b="1" dirty="0" smtClean="0">
                <a:latin typeface="+mj-lt"/>
                <a:cs typeface="Arial" pitchFamily="34" charset="0"/>
              </a:rPr>
            </a:br>
            <a:r>
              <a:rPr lang="en-US" b="1" dirty="0" smtClean="0">
                <a:latin typeface="+mj-lt"/>
                <a:cs typeface="Arial" pitchFamily="34" charset="0"/>
              </a:rPr>
              <a:t/>
            </a:r>
            <a:br>
              <a:rPr lang="en-US" b="1" dirty="0" smtClean="0">
                <a:latin typeface="+mj-lt"/>
                <a:cs typeface="Arial" pitchFamily="34" charset="0"/>
              </a:rPr>
            </a:br>
            <a:r>
              <a:rPr lang="en-US" b="1" dirty="0" smtClean="0">
                <a:latin typeface="+mj-lt"/>
                <a:cs typeface="Arial" pitchFamily="34" charset="0"/>
              </a:rPr>
              <a:t>Chapter10- Motive &amp; Exist Problem</a:t>
            </a:r>
          </a:p>
          <a:p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152402" y="152400"/>
            <a:ext cx="6434666" cy="96012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2245379" y="1542409"/>
            <a:ext cx="1150374" cy="45719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3378274" y="1542409"/>
            <a:ext cx="1150374" cy="45719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921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6275" y="1805818"/>
            <a:ext cx="5734050" cy="2593447"/>
          </a:xfrm>
        </p:spPr>
        <p:txBody>
          <a:bodyPr>
            <a:noAutofit/>
          </a:bodyPr>
          <a:lstStyle/>
          <a:p>
            <a:pPr algn="l"/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The </a:t>
            </a:r>
            <a:r>
              <a:rPr lang="en-US" sz="2000" dirty="0"/>
              <a:t>purpose of this document is to describe about our project named </a:t>
            </a:r>
            <a:r>
              <a:rPr lang="en-US" sz="2000" dirty="0" smtClean="0">
                <a:latin typeface="Comic Sans MS" pitchFamily="66" charset="0"/>
              </a:rPr>
              <a:t>PEACE</a:t>
            </a:r>
            <a:r>
              <a:rPr lang="en-US" sz="2000" dirty="0" smtClean="0"/>
              <a:t> (A Relaxation in your Pocket)with </a:t>
            </a:r>
            <a:r>
              <a:rPr lang="en-US" sz="2000" dirty="0"/>
              <a:t>first release. This document contains the functional and non-functional requirements of the project and also user profile, use case, database and storyboard. This document contains the guidelines for system engineers and designers to start working the </a:t>
            </a:r>
            <a:r>
              <a:rPr lang="en-US" sz="2000" dirty="0" smtClean="0"/>
              <a:t>project</a:t>
            </a:r>
            <a:r>
              <a:rPr lang="bn-BD" sz="2000" dirty="0" smtClean="0"/>
              <a:t>.</a:t>
            </a:r>
            <a:r>
              <a:rPr lang="en-US" sz="2000" dirty="0" smtClean="0"/>
              <a:t/>
            </a:r>
            <a:br>
              <a:rPr lang="en-US" sz="2000" dirty="0" smtClean="0"/>
            </a:br>
            <a:endParaRPr lang="en-US" sz="2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6699" y="4399265"/>
            <a:ext cx="5886451" cy="4859035"/>
          </a:xfrm>
        </p:spPr>
        <p:txBody>
          <a:bodyPr>
            <a:normAutofit fontScale="85000" lnSpcReduction="20000"/>
          </a:bodyPr>
          <a:lstStyle/>
          <a:p>
            <a:pPr lvl="1" algn="l"/>
            <a:r>
              <a:rPr lang="en-US" sz="2800" b="1" dirty="0">
                <a:latin typeface="Trebuchet MS" panose="020B0603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Scope</a:t>
            </a:r>
            <a:r>
              <a:rPr lang="en-US" sz="2400" b="1" dirty="0"/>
              <a:t/>
            </a:r>
            <a:br>
              <a:rPr lang="en-US" sz="2400" b="1" dirty="0"/>
            </a:br>
            <a:endParaRPr lang="en-US" sz="2400" b="1" dirty="0" smtClean="0"/>
          </a:p>
          <a:p>
            <a:pPr marL="858713" lvl="1" indent="-342900" algn="l">
              <a:buFont typeface="Arial" pitchFamily="34" charset="0"/>
              <a:buChar char="•"/>
            </a:pPr>
            <a:r>
              <a:rPr lang="bn-BD" sz="2400" b="1" dirty="0" smtClean="0">
                <a:latin typeface="Comic Sans MS" panose="030F0702030302020204" pitchFamily="66" charset="0"/>
              </a:rPr>
              <a:t>PEACE</a:t>
            </a:r>
            <a:r>
              <a:rPr lang="bn-BD" sz="2400" dirty="0" smtClean="0">
                <a:latin typeface="+mj-lt"/>
              </a:rPr>
              <a:t> </a:t>
            </a:r>
            <a:r>
              <a:rPr lang="bn-BD" sz="2400" dirty="0">
                <a:latin typeface="+mj-lt"/>
              </a:rPr>
              <a:t>is a meditation app that helps and process a depressed,anxiety and stress soul to a healthy,shine and beautiful </a:t>
            </a:r>
            <a:r>
              <a:rPr lang="bn-BD" sz="2400" dirty="0" smtClean="0">
                <a:latin typeface="+mj-lt"/>
              </a:rPr>
              <a:t>mind</a:t>
            </a:r>
            <a:r>
              <a:rPr lang="en-US" sz="2400" dirty="0" smtClean="0">
                <a:latin typeface="+mj-lt"/>
              </a:rPr>
              <a:t>.</a:t>
            </a:r>
            <a:br>
              <a:rPr lang="en-US" sz="2400" dirty="0" smtClean="0">
                <a:latin typeface="+mj-lt"/>
              </a:rPr>
            </a:br>
            <a:endParaRPr lang="en-US" sz="2400" dirty="0" smtClean="0">
              <a:latin typeface="+mj-lt"/>
            </a:endParaRPr>
          </a:p>
          <a:p>
            <a:pPr marL="858713" lvl="1" indent="-342900" algn="l">
              <a:buFont typeface="Arial" pitchFamily="34" charset="0"/>
              <a:buChar char="•"/>
            </a:pPr>
            <a:r>
              <a:rPr lang="en-US" sz="2400" dirty="0" smtClean="0">
                <a:latin typeface="+mj-lt"/>
              </a:rPr>
              <a:t>Develop it for well mental health and mindfulness.</a:t>
            </a:r>
            <a:br>
              <a:rPr lang="en-US" sz="2400" dirty="0" smtClean="0">
                <a:latin typeface="+mj-lt"/>
              </a:rPr>
            </a:br>
            <a:endParaRPr lang="en-US" sz="2400" dirty="0" smtClean="0">
              <a:latin typeface="+mj-lt"/>
            </a:endParaRPr>
          </a:p>
          <a:p>
            <a:pPr marL="858713" lvl="1" indent="-342900" algn="l">
              <a:buFont typeface="Arial" pitchFamily="34" charset="0"/>
              <a:buChar char="•"/>
            </a:pPr>
            <a:r>
              <a:rPr lang="en-US" sz="2400" dirty="0">
                <a:latin typeface="+mj-lt"/>
              </a:rPr>
              <a:t>M</a:t>
            </a:r>
            <a:r>
              <a:rPr lang="en-US" sz="2400" dirty="0" smtClean="0">
                <a:latin typeface="+mj-lt"/>
              </a:rPr>
              <a:t>ental well-being wanted human being help from it and can be focused in his life. </a:t>
            </a:r>
            <a:br>
              <a:rPr lang="en-US" sz="2400" dirty="0" smtClean="0">
                <a:latin typeface="+mj-lt"/>
              </a:rPr>
            </a:br>
            <a:endParaRPr lang="en-US" sz="2400" dirty="0" smtClean="0">
              <a:latin typeface="+mj-lt"/>
            </a:endParaRPr>
          </a:p>
          <a:p>
            <a:pPr marL="858713" lvl="1" indent="-342900" algn="l">
              <a:buFont typeface="Arial" pitchFamily="34" charset="0"/>
              <a:buChar char="•"/>
            </a:pPr>
            <a:r>
              <a:rPr lang="en-US" sz="2400" dirty="0" smtClean="0">
                <a:latin typeface="+mj-lt"/>
              </a:rPr>
              <a:t>By</a:t>
            </a:r>
            <a:r>
              <a:rPr lang="bn-BD" sz="2400" dirty="0" smtClean="0">
                <a:latin typeface="+mj-lt"/>
              </a:rPr>
              <a:t> </a:t>
            </a:r>
            <a:r>
              <a:rPr lang="en-US" sz="2400" dirty="0" smtClean="0">
                <a:latin typeface="+mj-lt"/>
              </a:rPr>
              <a:t>doing some activity and </a:t>
            </a:r>
            <a:r>
              <a:rPr lang="en-US" sz="2400" dirty="0" err="1" smtClean="0">
                <a:latin typeface="+mj-lt"/>
              </a:rPr>
              <a:t>podecast</a:t>
            </a:r>
            <a:r>
              <a:rPr lang="en-US" sz="2400" dirty="0" smtClean="0">
                <a:latin typeface="+mj-lt"/>
              </a:rPr>
              <a:t> they will gain their goal.</a:t>
            </a:r>
            <a:br>
              <a:rPr lang="en-US" sz="2400" dirty="0" smtClean="0">
                <a:latin typeface="+mj-lt"/>
              </a:rPr>
            </a:br>
            <a:endParaRPr lang="en-US" sz="2400" dirty="0">
              <a:latin typeface="+mj-lt"/>
            </a:endParaRPr>
          </a:p>
          <a:p>
            <a:pPr marL="858713" lvl="1" indent="-342900" algn="l">
              <a:buFont typeface="Arial" pitchFamily="34" charset="0"/>
              <a:buChar char="•"/>
            </a:pPr>
            <a:r>
              <a:rPr lang="en-US" sz="2400" dirty="0">
                <a:latin typeface="+mj-lt"/>
              </a:rPr>
              <a:t>A</a:t>
            </a:r>
            <a:r>
              <a:rPr lang="en-US" sz="2400" dirty="0" smtClean="0">
                <a:latin typeface="+mj-lt"/>
              </a:rPr>
              <a:t>dmin will generate or given the performance stage considering </a:t>
            </a:r>
            <a:r>
              <a:rPr lang="en-US" sz="2400" dirty="0" err="1" smtClean="0">
                <a:latin typeface="+mj-lt"/>
              </a:rPr>
              <a:t>age,gender,preference</a:t>
            </a:r>
            <a:r>
              <a:rPr lang="en-US" sz="2400" dirty="0" smtClean="0">
                <a:latin typeface="+mj-lt"/>
              </a:rPr>
              <a:t>.</a:t>
            </a:r>
            <a:br>
              <a:rPr lang="en-US" sz="2400" dirty="0" smtClean="0">
                <a:latin typeface="+mj-lt"/>
              </a:rPr>
            </a:br>
            <a:endParaRPr lang="en-US" sz="2400" dirty="0" smtClean="0">
              <a:latin typeface="+mj-lt"/>
            </a:endParaRPr>
          </a:p>
          <a:p>
            <a:pPr marL="858713" lvl="1" indent="-342900" algn="l">
              <a:buFont typeface="Arial" pitchFamily="34" charset="0"/>
              <a:buChar char="•"/>
            </a:pPr>
            <a:r>
              <a:rPr lang="en-US" sz="2400" dirty="0" smtClean="0">
                <a:latin typeface="+mj-lt"/>
              </a:rPr>
              <a:t>The project task begin In the 2022 March and Primary Ends will be In the Mid of May.(</a:t>
            </a:r>
            <a:r>
              <a:rPr lang="en-US" sz="2400" dirty="0" err="1" smtClean="0">
                <a:latin typeface="+mj-lt"/>
              </a:rPr>
              <a:t>Apprx</a:t>
            </a:r>
            <a:r>
              <a:rPr lang="en-US" sz="2400" dirty="0" smtClean="0">
                <a:latin typeface="+mj-lt"/>
              </a:rPr>
              <a:t>)</a:t>
            </a:r>
            <a:br>
              <a:rPr lang="en-US" sz="2400" dirty="0" smtClean="0">
                <a:latin typeface="+mj-lt"/>
              </a:rPr>
            </a:br>
            <a:endParaRPr lang="en-US" dirty="0">
              <a:latin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14057" y="712161"/>
            <a:ext cx="28003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+mj-lt"/>
              </a:rPr>
              <a:t>Chapter 1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b="1" dirty="0">
                <a:latin typeface="Trebuchet MS" panose="020B0603020202020204" pitchFamily="34" charset="0"/>
              </a:rPr>
              <a:t>Introduction</a:t>
            </a:r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152402" y="152400"/>
            <a:ext cx="6434666" cy="96012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2020529" y="1497439"/>
            <a:ext cx="1150374" cy="45719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3153424" y="1497439"/>
            <a:ext cx="1150374" cy="45719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52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2402" y="152400"/>
            <a:ext cx="6434666" cy="96012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389092" y="836258"/>
            <a:ext cx="3895032" cy="213748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Chapter </a:t>
            </a:r>
            <a:r>
              <a:rPr lang="en-US" sz="3200" b="1" dirty="0" smtClean="0">
                <a:solidFill>
                  <a:srgbClr val="C00000"/>
                </a:solidFill>
              </a:rPr>
              <a:t>2</a:t>
            </a:r>
            <a:r>
              <a:rPr lang="en-US" sz="3200" dirty="0"/>
              <a:t/>
            </a:r>
            <a:br>
              <a:rPr lang="en-US" sz="3200" dirty="0"/>
            </a:br>
            <a:r>
              <a:rPr lang="en-US" sz="3200" b="1" dirty="0" smtClean="0">
                <a:latin typeface="Trebuchet MS" panose="020B0603020202020204" pitchFamily="34" charset="0"/>
              </a:rPr>
              <a:t>User Profile</a:t>
            </a:r>
            <a:endParaRPr lang="en-US" sz="3200" dirty="0"/>
          </a:p>
        </p:txBody>
      </p:sp>
      <p:sp>
        <p:nvSpPr>
          <p:cNvPr id="8" name="TextBox 7"/>
          <p:cNvSpPr txBox="1"/>
          <p:nvPr/>
        </p:nvSpPr>
        <p:spPr>
          <a:xfrm>
            <a:off x="607485" y="4552606"/>
            <a:ext cx="55245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 err="1" smtClean="0">
                <a:latin typeface="Trebuchet MS" pitchFamily="34" charset="0"/>
              </a:rPr>
              <a:t>Defination</a:t>
            </a:r>
            <a:r>
              <a:rPr lang="en-US" sz="2400" b="1" u="sng" dirty="0" smtClean="0">
                <a:latin typeface="Trebuchet MS" pitchFamily="34" charset="0"/>
              </a:rPr>
              <a:t>:</a:t>
            </a:r>
            <a:r>
              <a:rPr lang="en-US" sz="2400" dirty="0" smtClean="0">
                <a:latin typeface="Trebuchet MS" pitchFamily="34" charset="0"/>
              </a:rPr>
              <a:t/>
            </a:r>
            <a:br>
              <a:rPr lang="en-US" sz="2400" dirty="0" smtClean="0">
                <a:latin typeface="Trebuchet MS" pitchFamily="34" charset="0"/>
              </a:rPr>
            </a:br>
            <a:r>
              <a:rPr lang="en-US" sz="2000" dirty="0" smtClean="0">
                <a:latin typeface="+mj-lt"/>
              </a:rPr>
              <a:t>A </a:t>
            </a:r>
            <a:r>
              <a:rPr lang="en-US" sz="2000" dirty="0">
                <a:latin typeface="+mj-lt"/>
              </a:rPr>
              <a:t>user profile is a visual display of personal data associated with a specific user, or a customized desktop environment.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53261" y="2957533"/>
            <a:ext cx="1150374" cy="45719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3286156" y="2957533"/>
            <a:ext cx="1150374" cy="45719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94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5250" y="114300"/>
            <a:ext cx="6629400" cy="969645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85825" y="1128056"/>
            <a:ext cx="50482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atin typeface="Trebuchet MS" panose="020B0603020202020204" pitchFamily="34" charset="0"/>
              </a:rPr>
              <a:t>User Profile-1</a:t>
            </a:r>
            <a:br>
              <a:rPr lang="en-US" sz="2400" b="1" dirty="0" smtClean="0">
                <a:latin typeface="Trebuchet MS" panose="020B0603020202020204" pitchFamily="34" charset="0"/>
              </a:rPr>
            </a:br>
            <a:r>
              <a:rPr lang="en-US" sz="2400" b="1" dirty="0" smtClean="0">
                <a:latin typeface="Trebuchet MS" panose="020B0603020202020204" pitchFamily="34" charset="0"/>
              </a:rPr>
              <a:t>(User)</a:t>
            </a:r>
            <a:endParaRPr lang="en-US" sz="2400" b="1" dirty="0">
              <a:latin typeface="Trebuchet MS" panose="020B0603020202020204" pitchFamily="34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179832"/>
              </p:ext>
            </p:extLst>
          </p:nvPr>
        </p:nvGraphicFramePr>
        <p:xfrm>
          <a:off x="237630" y="2686874"/>
          <a:ext cx="6344640" cy="45513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14880">
                  <a:extLst>
                    <a:ext uri="{9D8B030D-6E8A-4147-A177-3AD203B41FA5}">
                      <a16:colId xmlns:a16="http://schemas.microsoft.com/office/drawing/2014/main" val="1286689237"/>
                    </a:ext>
                  </a:extLst>
                </a:gridCol>
                <a:gridCol w="2114880">
                  <a:extLst>
                    <a:ext uri="{9D8B030D-6E8A-4147-A177-3AD203B41FA5}">
                      <a16:colId xmlns:a16="http://schemas.microsoft.com/office/drawing/2014/main" val="2606133880"/>
                    </a:ext>
                  </a:extLst>
                </a:gridCol>
                <a:gridCol w="2114880">
                  <a:extLst>
                    <a:ext uri="{9D8B030D-6E8A-4147-A177-3AD203B41FA5}">
                      <a16:colId xmlns:a16="http://schemas.microsoft.com/office/drawing/2014/main" val="2864447623"/>
                    </a:ext>
                  </a:extLst>
                </a:gridCol>
              </a:tblGrid>
              <a:tr h="459084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+mj-lt"/>
                        </a:rPr>
                        <a:t>User</a:t>
                      </a:r>
                      <a:endParaRPr lang="en-US" sz="1800" b="1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+mj-lt"/>
                        </a:rPr>
                        <a:t>Character</a:t>
                      </a:r>
                      <a:endParaRPr lang="en-US" sz="1800" b="1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effectLst/>
                          <a:latin typeface="+mj-lt"/>
                        </a:rPr>
                        <a:t>Requirement</a:t>
                      </a:r>
                      <a:endParaRPr lang="en-US" sz="1800" b="1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85007"/>
                  </a:ext>
                </a:extLst>
              </a:tr>
              <a:tr h="561793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+mj-lt"/>
                        </a:rPr>
                        <a:t>Type</a:t>
                      </a:r>
                      <a:endParaRPr lang="en-US" sz="1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+mj-lt"/>
                        </a:rPr>
                        <a:t>User</a:t>
                      </a:r>
                      <a:endParaRPr lang="en-US" sz="1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+mj-lt"/>
                        </a:rPr>
                        <a:t>Input</a:t>
                      </a:r>
                      <a:endParaRPr lang="en-US" sz="18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6812989"/>
                  </a:ext>
                </a:extLst>
              </a:tr>
              <a:tr h="641626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+mj-lt"/>
                        </a:rPr>
                        <a:t>Age Range</a:t>
                      </a:r>
                      <a:endParaRPr lang="en-US" sz="1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+mj-lt"/>
                        </a:rPr>
                        <a:t>15-65</a:t>
                      </a:r>
                      <a:endParaRPr lang="en-US" sz="1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+mj-lt"/>
                        </a:rPr>
                        <a:t>No Need</a:t>
                      </a:r>
                    </a:p>
                    <a:p>
                      <a:endParaRPr lang="en-US" sz="1800" dirty="0" smtClean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9873567"/>
                  </a:ext>
                </a:extLst>
              </a:tr>
              <a:tr h="561793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+mj-lt"/>
                        </a:rPr>
                        <a:t>Number of User</a:t>
                      </a:r>
                      <a:endParaRPr lang="en-US" sz="1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+mj-lt"/>
                        </a:rPr>
                        <a:t>Unlimited</a:t>
                      </a:r>
                      <a:endParaRPr lang="en-US" sz="1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+mj-lt"/>
                        </a:rPr>
                        <a:t>Subscription</a:t>
                      </a:r>
                      <a:endParaRPr lang="en-US" sz="18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8479779"/>
                  </a:ext>
                </a:extLst>
              </a:tr>
              <a:tr h="561793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+mj-lt"/>
                        </a:rPr>
                        <a:t>Language</a:t>
                      </a:r>
                      <a:endParaRPr lang="en-US" sz="1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+mj-lt"/>
                        </a:rPr>
                        <a:t>English</a:t>
                      </a:r>
                      <a:endParaRPr lang="en-US" sz="1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+mj-lt"/>
                        </a:rPr>
                        <a:t>Easy</a:t>
                      </a:r>
                      <a:r>
                        <a:rPr lang="en-US" sz="1800" baseline="0" dirty="0" smtClean="0">
                          <a:latin typeface="+mj-lt"/>
                        </a:rPr>
                        <a:t> Language</a:t>
                      </a:r>
                      <a:endParaRPr lang="en-US" sz="18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1879505"/>
                  </a:ext>
                </a:extLst>
              </a:tr>
              <a:tr h="561793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+mj-lt"/>
                        </a:rPr>
                        <a:t>Training</a:t>
                      </a:r>
                      <a:endParaRPr lang="en-US" sz="1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+mj-lt"/>
                        </a:rPr>
                        <a:t>No </a:t>
                      </a:r>
                      <a:endParaRPr lang="en-US" sz="1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+mj-lt"/>
                        </a:rPr>
                        <a:t>No</a:t>
                      </a:r>
                      <a:endParaRPr lang="en-US" sz="18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9751932"/>
                  </a:ext>
                </a:extLst>
              </a:tr>
              <a:tr h="561793">
                <a:tc>
                  <a:txBody>
                    <a:bodyPr/>
                    <a:lstStyle/>
                    <a:p>
                      <a:endParaRPr lang="en-US" sz="1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911643"/>
                  </a:ext>
                </a:extLst>
              </a:tr>
              <a:tr h="641626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+mj-lt"/>
                        </a:rPr>
                        <a:t>Goal</a:t>
                      </a:r>
                      <a:endParaRPr lang="en-US" sz="1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+mj-lt"/>
                        </a:rPr>
                        <a:t>A Relaxation</a:t>
                      </a:r>
                      <a:r>
                        <a:rPr lang="en-US" sz="1800" baseline="0" dirty="0" smtClean="0">
                          <a:latin typeface="+mj-lt"/>
                        </a:rPr>
                        <a:t> App</a:t>
                      </a:r>
                      <a:endParaRPr lang="en-US" sz="1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+mj-lt"/>
                        </a:rPr>
                        <a:t>Any Electrical</a:t>
                      </a:r>
                      <a:r>
                        <a:rPr lang="en-US" sz="1800" baseline="0" dirty="0" smtClean="0">
                          <a:latin typeface="+mj-lt"/>
                        </a:rPr>
                        <a:t> </a:t>
                      </a:r>
                      <a:r>
                        <a:rPr lang="en-US" sz="1800" dirty="0" smtClean="0">
                          <a:latin typeface="+mj-lt"/>
                        </a:rPr>
                        <a:t>Device</a:t>
                      </a:r>
                      <a:endParaRPr lang="en-US" sz="18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8958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6788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5250" y="114300"/>
            <a:ext cx="6629400" cy="969645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85825" y="1128056"/>
            <a:ext cx="50482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atin typeface="Trebuchet MS" panose="020B0603020202020204" pitchFamily="34" charset="0"/>
              </a:rPr>
              <a:t>User Profile-1</a:t>
            </a:r>
            <a:br>
              <a:rPr lang="en-US" sz="2400" b="1" dirty="0" smtClean="0">
                <a:latin typeface="Trebuchet MS" panose="020B0603020202020204" pitchFamily="34" charset="0"/>
              </a:rPr>
            </a:br>
            <a:r>
              <a:rPr lang="en-US" sz="2400" b="1" dirty="0" smtClean="0">
                <a:latin typeface="Trebuchet MS" panose="020B0603020202020204" pitchFamily="34" charset="0"/>
              </a:rPr>
              <a:t>(Admin)</a:t>
            </a:r>
            <a:endParaRPr lang="en-US" sz="2400" b="1" dirty="0">
              <a:latin typeface="Trebuchet MS" panose="020B0603020202020204" pitchFamily="34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565574"/>
              </p:ext>
            </p:extLst>
          </p:nvPr>
        </p:nvGraphicFramePr>
        <p:xfrm>
          <a:off x="237630" y="2686874"/>
          <a:ext cx="6344640" cy="45513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14880">
                  <a:extLst>
                    <a:ext uri="{9D8B030D-6E8A-4147-A177-3AD203B41FA5}">
                      <a16:colId xmlns:a16="http://schemas.microsoft.com/office/drawing/2014/main" val="1286689237"/>
                    </a:ext>
                  </a:extLst>
                </a:gridCol>
                <a:gridCol w="2114880">
                  <a:extLst>
                    <a:ext uri="{9D8B030D-6E8A-4147-A177-3AD203B41FA5}">
                      <a16:colId xmlns:a16="http://schemas.microsoft.com/office/drawing/2014/main" val="2606133880"/>
                    </a:ext>
                  </a:extLst>
                </a:gridCol>
                <a:gridCol w="2114880">
                  <a:extLst>
                    <a:ext uri="{9D8B030D-6E8A-4147-A177-3AD203B41FA5}">
                      <a16:colId xmlns:a16="http://schemas.microsoft.com/office/drawing/2014/main" val="2864447623"/>
                    </a:ext>
                  </a:extLst>
                </a:gridCol>
              </a:tblGrid>
              <a:tr h="459084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+mj-lt"/>
                        </a:rPr>
                        <a:t>User</a:t>
                      </a:r>
                      <a:endParaRPr lang="en-US" sz="1800" b="1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smtClean="0">
                          <a:latin typeface="+mj-lt"/>
                        </a:rPr>
                        <a:t>Character</a:t>
                      </a:r>
                      <a:endParaRPr lang="en-US" sz="1800" b="1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smtClean="0">
                          <a:effectLst/>
                          <a:latin typeface="+mj-lt"/>
                        </a:rPr>
                        <a:t>Requirement</a:t>
                      </a:r>
                      <a:endParaRPr lang="en-US" sz="1800" b="1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85007"/>
                  </a:ext>
                </a:extLst>
              </a:tr>
              <a:tr h="561793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+mj-lt"/>
                        </a:rPr>
                        <a:t>Type</a:t>
                      </a:r>
                      <a:endParaRPr lang="en-US" sz="1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+mj-lt"/>
                        </a:rPr>
                        <a:t>Admin</a:t>
                      </a:r>
                      <a:endParaRPr lang="en-US" sz="1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+mj-lt"/>
                        </a:rPr>
                        <a:t>Controlling</a:t>
                      </a:r>
                      <a:endParaRPr lang="en-US" sz="18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6812989"/>
                  </a:ext>
                </a:extLst>
              </a:tr>
              <a:tr h="641626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+mj-lt"/>
                        </a:rPr>
                        <a:t>Age Range</a:t>
                      </a:r>
                      <a:endParaRPr lang="en-US" sz="1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+mj-lt"/>
                        </a:rPr>
                        <a:t>20-40</a:t>
                      </a:r>
                      <a:endParaRPr lang="en-US" sz="1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+mj-lt"/>
                        </a:rPr>
                        <a:t>No Need</a:t>
                      </a:r>
                    </a:p>
                    <a:p>
                      <a:endParaRPr lang="en-US" sz="1800" dirty="0" smtClean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9873567"/>
                  </a:ext>
                </a:extLst>
              </a:tr>
              <a:tr h="561793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+mj-lt"/>
                        </a:rPr>
                        <a:t>Skill</a:t>
                      </a:r>
                      <a:endParaRPr lang="en-US" sz="1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+mj-lt"/>
                        </a:rPr>
                        <a:t>Yes</a:t>
                      </a:r>
                      <a:endParaRPr lang="en-US" sz="1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Management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8479779"/>
                  </a:ext>
                </a:extLst>
              </a:tr>
              <a:tr h="561793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+mj-lt"/>
                        </a:rPr>
                        <a:t>Language</a:t>
                      </a:r>
                      <a:endParaRPr lang="en-US" sz="1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+mj-lt"/>
                        </a:rPr>
                        <a:t>English</a:t>
                      </a:r>
                      <a:endParaRPr lang="en-US" sz="1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+mj-lt"/>
                        </a:rPr>
                        <a:t>Easy</a:t>
                      </a:r>
                      <a:r>
                        <a:rPr lang="en-US" sz="1800" baseline="0" dirty="0" smtClean="0">
                          <a:latin typeface="+mj-lt"/>
                        </a:rPr>
                        <a:t> Language</a:t>
                      </a:r>
                      <a:endParaRPr lang="en-US" sz="18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1879505"/>
                  </a:ext>
                </a:extLst>
              </a:tr>
              <a:tr h="561793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+mj-lt"/>
                        </a:rPr>
                        <a:t>Training</a:t>
                      </a:r>
                      <a:endParaRPr lang="en-US" sz="1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+mj-lt"/>
                        </a:rPr>
                        <a:t>No </a:t>
                      </a:r>
                      <a:endParaRPr lang="en-US" sz="1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+mj-lt"/>
                        </a:rPr>
                        <a:t>No</a:t>
                      </a:r>
                      <a:endParaRPr lang="en-US" sz="18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9751932"/>
                  </a:ext>
                </a:extLst>
              </a:tr>
              <a:tr h="561793">
                <a:tc>
                  <a:txBody>
                    <a:bodyPr/>
                    <a:lstStyle/>
                    <a:p>
                      <a:endParaRPr lang="en-US" sz="1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911643"/>
                  </a:ext>
                </a:extLst>
              </a:tr>
              <a:tr h="641626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+mj-lt"/>
                        </a:rPr>
                        <a:t>Goal</a:t>
                      </a:r>
                      <a:endParaRPr lang="en-US" sz="1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+mj-lt"/>
                        </a:rPr>
                        <a:t>A Relaxation</a:t>
                      </a:r>
                      <a:r>
                        <a:rPr lang="en-US" sz="1800" baseline="0" dirty="0" smtClean="0">
                          <a:latin typeface="+mj-lt"/>
                        </a:rPr>
                        <a:t> App</a:t>
                      </a:r>
                      <a:endParaRPr lang="en-US" sz="1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+mj-lt"/>
                        </a:rPr>
                        <a:t>Any Electrical</a:t>
                      </a:r>
                      <a:r>
                        <a:rPr lang="en-US" sz="1800" baseline="0" dirty="0" smtClean="0">
                          <a:latin typeface="+mj-lt"/>
                        </a:rPr>
                        <a:t> </a:t>
                      </a:r>
                      <a:r>
                        <a:rPr lang="en-US" sz="1800" dirty="0" smtClean="0">
                          <a:latin typeface="+mj-lt"/>
                        </a:rPr>
                        <a:t>Device</a:t>
                      </a:r>
                      <a:endParaRPr lang="en-US" sz="18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8958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9236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2402" y="152400"/>
            <a:ext cx="6434666" cy="96012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072428" y="921272"/>
            <a:ext cx="4594613" cy="2137483"/>
          </a:xfrm>
        </p:spPr>
        <p:txBody>
          <a:bodyPr>
            <a:normAutofit fontScale="90000"/>
          </a:bodyPr>
          <a:lstStyle/>
          <a:p>
            <a:r>
              <a:rPr lang="en-US" sz="3200" b="1" dirty="0" smtClean="0">
                <a:solidFill>
                  <a:srgbClr val="C00000"/>
                </a:solidFill>
              </a:rPr>
              <a:t>Chapter 3</a:t>
            </a:r>
            <a:r>
              <a:rPr lang="en-US" sz="3200" dirty="0"/>
              <a:t/>
            </a:r>
            <a:br>
              <a:rPr lang="en-US" sz="3200" dirty="0"/>
            </a:br>
            <a:r>
              <a:rPr lang="en-US" sz="3200" dirty="0" smtClean="0"/>
              <a:t>Functional Requirement</a:t>
            </a:r>
            <a:br>
              <a:rPr lang="en-US" sz="3200" dirty="0" smtClean="0"/>
            </a:br>
            <a:r>
              <a:rPr lang="en-US" sz="3200" dirty="0" smtClean="0"/>
              <a:t>&amp;</a:t>
            </a:r>
            <a:br>
              <a:rPr lang="en-US" sz="3200" dirty="0" smtClean="0"/>
            </a:br>
            <a:r>
              <a:rPr lang="en-US" sz="3200" dirty="0" smtClean="0"/>
              <a:t>Non-Functional Requirement</a:t>
            </a:r>
            <a:endParaRPr lang="en-US" sz="3200" dirty="0"/>
          </a:p>
        </p:txBody>
      </p:sp>
      <p:sp>
        <p:nvSpPr>
          <p:cNvPr id="8" name="TextBox 7"/>
          <p:cNvSpPr txBox="1"/>
          <p:nvPr/>
        </p:nvSpPr>
        <p:spPr>
          <a:xfrm>
            <a:off x="607485" y="4552606"/>
            <a:ext cx="55245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 smtClean="0">
                <a:latin typeface="Berlin Sans FB" pitchFamily="34" charset="0"/>
              </a:rPr>
              <a:t>Functional Requirement:</a:t>
            </a:r>
            <a:r>
              <a:rPr lang="en-US" dirty="0" smtClean="0">
                <a:latin typeface="Berlin Sans FB" pitchFamily="34" charset="0"/>
              </a:rPr>
              <a:t/>
            </a:r>
            <a:br>
              <a:rPr lang="en-US" dirty="0" smtClean="0">
                <a:latin typeface="Berlin Sans FB" pitchFamily="34" charset="0"/>
              </a:rPr>
            </a:br>
            <a:r>
              <a:rPr lang="en-US" dirty="0" smtClean="0">
                <a:latin typeface="+mj-lt"/>
              </a:rPr>
              <a:t>A Functional Requirement (FR) is a description of the service that the software must offer.</a:t>
            </a:r>
          </a:p>
          <a:p>
            <a:endParaRPr lang="en-US" dirty="0" smtClean="0"/>
          </a:p>
          <a:p>
            <a:r>
              <a:rPr lang="en-US" u="sng" dirty="0" smtClean="0">
                <a:latin typeface="Berlin Sans FB" pitchFamily="34" charset="0"/>
              </a:rPr>
              <a:t>Non-Functional Requirement:</a:t>
            </a:r>
            <a:r>
              <a:rPr lang="en-US" dirty="0" smtClean="0">
                <a:latin typeface="Berlin Sans FB" pitchFamily="34" charset="0"/>
              </a:rPr>
              <a:t/>
            </a:r>
            <a:br>
              <a:rPr lang="en-US" dirty="0" smtClean="0">
                <a:latin typeface="Berlin Sans FB" pitchFamily="34" charset="0"/>
              </a:rPr>
            </a:br>
            <a:r>
              <a:rPr lang="en-US" dirty="0" smtClean="0">
                <a:latin typeface="+mj-lt"/>
              </a:rPr>
              <a:t>Nonfunctional Requirements (NFR) define system attributes such as security, reliability, performance, maintainability, scalability, and usability.</a:t>
            </a:r>
          </a:p>
          <a:p>
            <a:r>
              <a:rPr lang="en-US" dirty="0">
                <a:latin typeface="+mj-lt"/>
              </a:rPr>
              <a:t>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68003" y="3211198"/>
            <a:ext cx="1081242" cy="45719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3465871" y="3211198"/>
            <a:ext cx="1150374" cy="45719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532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2402" y="152400"/>
            <a:ext cx="6434666" cy="96012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7885495"/>
              </p:ext>
            </p:extLst>
          </p:nvPr>
        </p:nvGraphicFramePr>
        <p:xfrm>
          <a:off x="235976" y="3123294"/>
          <a:ext cx="6292100" cy="48949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87381">
                  <a:extLst>
                    <a:ext uri="{9D8B030D-6E8A-4147-A177-3AD203B41FA5}">
                      <a16:colId xmlns:a16="http://schemas.microsoft.com/office/drawing/2014/main" val="3099288027"/>
                    </a:ext>
                  </a:extLst>
                </a:gridCol>
                <a:gridCol w="3638309">
                  <a:extLst>
                    <a:ext uri="{9D8B030D-6E8A-4147-A177-3AD203B41FA5}">
                      <a16:colId xmlns:a16="http://schemas.microsoft.com/office/drawing/2014/main" val="2517754851"/>
                    </a:ext>
                  </a:extLst>
                </a:gridCol>
                <a:gridCol w="1466410">
                  <a:extLst>
                    <a:ext uri="{9D8B030D-6E8A-4147-A177-3AD203B41FA5}">
                      <a16:colId xmlns:a16="http://schemas.microsoft.com/office/drawing/2014/main" val="2102843278"/>
                    </a:ext>
                  </a:extLst>
                </a:gridCol>
              </a:tblGrid>
              <a:tr h="808704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+mj-lt"/>
                        </a:rPr>
                        <a:t>FR01</a:t>
                      </a:r>
                      <a:endParaRPr lang="en-US" sz="16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+mj-lt"/>
                        </a:rPr>
                        <a:t>Onboarding</a:t>
                      </a:r>
                      <a:r>
                        <a:rPr lang="en-US" sz="1600" baseline="0" dirty="0" smtClean="0">
                          <a:latin typeface="+mj-lt"/>
                        </a:rPr>
                        <a:t> Activity or Basic Exercise</a:t>
                      </a:r>
                      <a:endParaRPr lang="en-US" sz="16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+mj-lt"/>
                        </a:rPr>
                        <a:t>Starting</a:t>
                      </a:r>
                      <a:endParaRPr lang="en-US" sz="16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435247"/>
                  </a:ext>
                </a:extLst>
              </a:tr>
              <a:tr h="808704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+mj-lt"/>
                        </a:rPr>
                        <a:t>FR02</a:t>
                      </a:r>
                      <a:endParaRPr lang="en-US" sz="16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+mj-lt"/>
                        </a:rPr>
                        <a:t>Meditation</a:t>
                      </a:r>
                      <a:r>
                        <a:rPr lang="en-US" sz="1600" baseline="0" dirty="0" smtClean="0">
                          <a:latin typeface="+mj-lt"/>
                        </a:rPr>
                        <a:t> Exercise Session</a:t>
                      </a:r>
                    </a:p>
                    <a:p>
                      <a:r>
                        <a:rPr lang="en-US" sz="1600" baseline="0" dirty="0" smtClean="0">
                          <a:latin typeface="+mj-lt"/>
                        </a:rPr>
                        <a:t>(Based on </a:t>
                      </a:r>
                      <a:r>
                        <a:rPr lang="en-US" sz="1600" baseline="0" dirty="0" err="1" smtClean="0">
                          <a:latin typeface="+mj-lt"/>
                        </a:rPr>
                        <a:t>Age,Gender,Preference</a:t>
                      </a:r>
                      <a:r>
                        <a:rPr lang="en-US" sz="1600" baseline="0" dirty="0" smtClean="0">
                          <a:latin typeface="+mj-lt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+mj-lt"/>
                        </a:rPr>
                        <a:t>(</a:t>
                      </a:r>
                      <a:r>
                        <a:rPr lang="en-US" sz="1600" dirty="0" err="1" smtClean="0">
                          <a:latin typeface="+mj-lt"/>
                        </a:rPr>
                        <a:t>Sleep,Focus,Workout</a:t>
                      </a:r>
                      <a:r>
                        <a:rPr lang="en-US" sz="1600" dirty="0" smtClean="0">
                          <a:latin typeface="+mj-lt"/>
                        </a:rPr>
                        <a:t>)</a:t>
                      </a:r>
                      <a:endParaRPr lang="en-US" sz="16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1373933"/>
                  </a:ext>
                </a:extLst>
              </a:tr>
              <a:tr h="808704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+mj-lt"/>
                        </a:rPr>
                        <a:t>FR03</a:t>
                      </a:r>
                      <a:endParaRPr lang="en-US" sz="16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latin typeface="+mj-lt"/>
                        </a:rPr>
                        <a:t>Audio/Video for guided meditation</a:t>
                      </a:r>
                    </a:p>
                    <a:p>
                      <a:endParaRPr lang="en-US" sz="16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latin typeface="+mj-lt"/>
                        </a:rPr>
                        <a:t>(</a:t>
                      </a:r>
                      <a:r>
                        <a:rPr lang="en-US" sz="1600" dirty="0" err="1" smtClean="0">
                          <a:latin typeface="+mj-lt"/>
                        </a:rPr>
                        <a:t>Sleep,Focus,Workout</a:t>
                      </a:r>
                      <a:r>
                        <a:rPr lang="en-US" sz="1600" dirty="0" smtClean="0">
                          <a:latin typeface="+mj-lt"/>
                        </a:rPr>
                        <a:t>)</a:t>
                      </a:r>
                    </a:p>
                    <a:p>
                      <a:endParaRPr lang="en-US" sz="16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1959022"/>
                  </a:ext>
                </a:extLst>
              </a:tr>
              <a:tr h="808704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+mj-lt"/>
                        </a:rPr>
                        <a:t>FR04</a:t>
                      </a:r>
                      <a:endParaRPr lang="en-US" sz="16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+mj-lt"/>
                        </a:rPr>
                        <a:t>Meditation guide sessions and video consultation with experts</a:t>
                      </a:r>
                      <a:endParaRPr lang="en-US" sz="16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latin typeface="+mj-lt"/>
                        </a:rPr>
                        <a:t>(</a:t>
                      </a:r>
                      <a:r>
                        <a:rPr lang="en-US" sz="1600" dirty="0" err="1" smtClean="0">
                          <a:latin typeface="+mj-lt"/>
                        </a:rPr>
                        <a:t>Sleep,Focus,Workout</a:t>
                      </a:r>
                      <a:r>
                        <a:rPr lang="en-US" sz="1600" dirty="0" smtClean="0">
                          <a:latin typeface="+mj-lt"/>
                        </a:rPr>
                        <a:t>)</a:t>
                      </a:r>
                    </a:p>
                    <a:p>
                      <a:endParaRPr lang="en-US" sz="16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934655"/>
                  </a:ext>
                </a:extLst>
              </a:tr>
              <a:tr h="808704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+mj-lt"/>
                        </a:rPr>
                        <a:t>FR05</a:t>
                      </a:r>
                      <a:endParaRPr lang="en-US" sz="16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latin typeface="+mj-lt"/>
                        </a:rPr>
                        <a:t>Meditation sessions based on level </a:t>
                      </a:r>
                      <a:br>
                        <a:rPr lang="en-US" sz="1600" dirty="0" smtClean="0">
                          <a:latin typeface="+mj-lt"/>
                        </a:rPr>
                      </a:br>
                      <a:r>
                        <a:rPr lang="en-US" sz="1600" dirty="0" smtClean="0">
                          <a:latin typeface="+mj-lt"/>
                        </a:rPr>
                        <a:t>(beginner, intermediate or advanced</a:t>
                      </a:r>
                      <a:r>
                        <a:rPr lang="bn-BD" sz="1600" dirty="0" smtClean="0">
                          <a:latin typeface="+mj-lt"/>
                        </a:rPr>
                        <a:t>)</a:t>
                      </a:r>
                      <a:endParaRPr lang="en-US" sz="1600" dirty="0" smtClean="0">
                        <a:latin typeface="+mj-lt"/>
                      </a:endParaRPr>
                    </a:p>
                    <a:p>
                      <a:endParaRPr lang="en-US" sz="16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latin typeface="+mj-lt"/>
                        </a:rPr>
                        <a:t>(</a:t>
                      </a:r>
                      <a:r>
                        <a:rPr lang="en-US" sz="1600" dirty="0" err="1" smtClean="0">
                          <a:latin typeface="+mj-lt"/>
                        </a:rPr>
                        <a:t>Sleep,Focus,Workout</a:t>
                      </a:r>
                      <a:r>
                        <a:rPr lang="en-US" sz="1600" dirty="0" smtClean="0">
                          <a:latin typeface="+mj-lt"/>
                        </a:rPr>
                        <a:t>)</a:t>
                      </a:r>
                    </a:p>
                    <a:p>
                      <a:endParaRPr lang="en-US" sz="16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758939"/>
                  </a:ext>
                </a:extLst>
              </a:tr>
              <a:tr h="808704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+mj-lt"/>
                        </a:rPr>
                        <a:t>FR06</a:t>
                      </a:r>
                      <a:endParaRPr lang="en-US" sz="16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+mj-lt"/>
                        </a:rPr>
                        <a:t>Favorite meditation tracks and sessions</a:t>
                      </a:r>
                      <a:endParaRPr lang="en-US" sz="16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+mj-lt"/>
                        </a:rPr>
                        <a:t>Profile</a:t>
                      </a:r>
                      <a:endParaRPr lang="en-US" sz="16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358912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733440" y="1740904"/>
            <a:ext cx="32725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Berlin Sans FB" pitchFamily="34" charset="0"/>
              </a:rPr>
              <a:t>Functional</a:t>
            </a:r>
            <a:br>
              <a:rPr lang="en-US" sz="2400" dirty="0" smtClean="0">
                <a:latin typeface="Berlin Sans FB" pitchFamily="34" charset="0"/>
              </a:rPr>
            </a:br>
            <a:r>
              <a:rPr lang="en-US" sz="2400" dirty="0" smtClean="0">
                <a:latin typeface="Berlin Sans FB" pitchFamily="34" charset="0"/>
              </a:rPr>
              <a:t> Requirement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81361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2402" y="152400"/>
            <a:ext cx="6434666" cy="96012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51927"/>
              </p:ext>
            </p:extLst>
          </p:nvPr>
        </p:nvGraphicFramePr>
        <p:xfrm>
          <a:off x="218119" y="3625848"/>
          <a:ext cx="6303227" cy="394602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7018">
                  <a:extLst>
                    <a:ext uri="{9D8B030D-6E8A-4147-A177-3AD203B41FA5}">
                      <a16:colId xmlns:a16="http://schemas.microsoft.com/office/drawing/2014/main" val="3677773352"/>
                    </a:ext>
                  </a:extLst>
                </a:gridCol>
                <a:gridCol w="3543148">
                  <a:extLst>
                    <a:ext uri="{9D8B030D-6E8A-4147-A177-3AD203B41FA5}">
                      <a16:colId xmlns:a16="http://schemas.microsoft.com/office/drawing/2014/main" val="3510812920"/>
                    </a:ext>
                  </a:extLst>
                </a:gridCol>
                <a:gridCol w="1483061">
                  <a:extLst>
                    <a:ext uri="{9D8B030D-6E8A-4147-A177-3AD203B41FA5}">
                      <a16:colId xmlns:a16="http://schemas.microsoft.com/office/drawing/2014/main" val="1601154500"/>
                    </a:ext>
                  </a:extLst>
                </a:gridCol>
              </a:tblGrid>
              <a:tr h="972406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+mj-lt"/>
                        </a:rPr>
                        <a:t>NFR01</a:t>
                      </a:r>
                      <a:endParaRPr lang="en-US" sz="16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50000"/>
                        </a:lnSpc>
                      </a:pPr>
                      <a:r>
                        <a:rPr lang="en-US" sz="1600" dirty="0" smtClean="0">
                          <a:latin typeface="+mj-lt"/>
                        </a:rPr>
                        <a:t>Social Sign up &amp; Profile Management</a:t>
                      </a:r>
                      <a:endParaRPr lang="en-US" sz="16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+mj-lt"/>
                        </a:rPr>
                        <a:t>Starting</a:t>
                      </a:r>
                      <a:endParaRPr lang="en-US" sz="16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21638"/>
                  </a:ext>
                </a:extLst>
              </a:tr>
              <a:tr h="711140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+mj-lt"/>
                        </a:rPr>
                        <a:t>NFR02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latin typeface="+mj-lt"/>
                        </a:rPr>
                        <a:t>Push notifications</a:t>
                      </a:r>
                    </a:p>
                    <a:p>
                      <a:r>
                        <a:rPr lang="en-US" sz="1600" dirty="0" smtClean="0">
                          <a:latin typeface="+mj-lt"/>
                        </a:rPr>
                        <a:t>for daily basis alert</a:t>
                      </a:r>
                      <a:endParaRPr lang="en-US" sz="16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+mj-lt"/>
                        </a:rPr>
                        <a:t>Onboard</a:t>
                      </a:r>
                      <a:endParaRPr lang="en-US" sz="16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1101075"/>
                  </a:ext>
                </a:extLst>
              </a:tr>
              <a:tr h="711140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+mj-lt"/>
                        </a:rPr>
                        <a:t>NFR03</a:t>
                      </a:r>
                      <a:endParaRPr lang="en-US" sz="16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latin typeface="+mj-lt"/>
                        </a:rPr>
                        <a:t>Track progress &amp; Analytics</a:t>
                      </a:r>
                    </a:p>
                    <a:p>
                      <a:endParaRPr lang="en-US" sz="16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+mj-lt"/>
                        </a:rPr>
                        <a:t>Profile</a:t>
                      </a:r>
                      <a:endParaRPr lang="en-US" sz="16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4616882"/>
                  </a:ext>
                </a:extLst>
              </a:tr>
              <a:tr h="711140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+mj-lt"/>
                        </a:rPr>
                        <a:t>NFR04</a:t>
                      </a:r>
                      <a:endParaRPr lang="en-US" sz="16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latin typeface="+mj-lt"/>
                        </a:rPr>
                        <a:t>Customer support &amp; Feedback</a:t>
                      </a:r>
                    </a:p>
                    <a:p>
                      <a:endParaRPr lang="en-US" sz="16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+mj-lt"/>
                        </a:rPr>
                        <a:t>Profile</a:t>
                      </a:r>
                      <a:endParaRPr lang="en-US" sz="16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8591810"/>
                  </a:ext>
                </a:extLst>
              </a:tr>
              <a:tr h="840200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+mj-lt"/>
                        </a:rPr>
                        <a:t>NFR05</a:t>
                      </a:r>
                      <a:endParaRPr lang="en-US" sz="16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+mj-lt"/>
                        </a:rPr>
                        <a:t>Add some Buddies for your connective</a:t>
                      </a:r>
                      <a:r>
                        <a:rPr lang="en-US" sz="1600" baseline="0" dirty="0" smtClean="0">
                          <a:latin typeface="+mj-lt"/>
                        </a:rPr>
                        <a:t> progress</a:t>
                      </a:r>
                      <a:endParaRPr lang="en-US" sz="16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+mj-lt"/>
                        </a:rPr>
                        <a:t>Profile</a:t>
                      </a:r>
                      <a:endParaRPr lang="en-US" sz="16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6662913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2237853" y="2085807"/>
            <a:ext cx="226376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latin typeface="Berlin Sans FB" pitchFamily="34" charset="0"/>
              </a:rPr>
              <a:t>Non-Functional </a:t>
            </a:r>
            <a:br>
              <a:rPr lang="en-US" sz="2400" dirty="0" smtClean="0">
                <a:latin typeface="Berlin Sans FB" pitchFamily="34" charset="0"/>
              </a:rPr>
            </a:br>
            <a:r>
              <a:rPr lang="en-US" sz="2400" dirty="0" smtClean="0">
                <a:latin typeface="Berlin Sans FB" pitchFamily="34" charset="0"/>
              </a:rPr>
              <a:t>Requirement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71276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52402" y="152400"/>
            <a:ext cx="6434666" cy="96012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1389092" y="836258"/>
            <a:ext cx="3895032" cy="213748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Chapter 4</a:t>
            </a:r>
            <a:r>
              <a:rPr lang="en-US" sz="3200" dirty="0"/>
              <a:t/>
            </a:r>
            <a:br>
              <a:rPr lang="en-US" sz="3200" dirty="0"/>
            </a:br>
            <a:r>
              <a:rPr lang="en-US" sz="3200" b="1" dirty="0" smtClean="0">
                <a:latin typeface="Trebuchet MS" panose="020B0603020202020204" pitchFamily="34" charset="0"/>
              </a:rPr>
              <a:t>Use Case Diagram</a:t>
            </a:r>
            <a:endParaRPr lang="en-US" sz="3200" dirty="0"/>
          </a:p>
        </p:txBody>
      </p:sp>
      <p:sp>
        <p:nvSpPr>
          <p:cNvPr id="12" name="TextBox 11"/>
          <p:cNvSpPr txBox="1"/>
          <p:nvPr/>
        </p:nvSpPr>
        <p:spPr>
          <a:xfrm>
            <a:off x="607485" y="4552606"/>
            <a:ext cx="55245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 err="1" smtClean="0">
                <a:latin typeface="Trebuchet MS" pitchFamily="34" charset="0"/>
              </a:rPr>
              <a:t>Defination</a:t>
            </a:r>
            <a:r>
              <a:rPr lang="en-US" sz="2000" b="1" u="sng" dirty="0" smtClean="0">
                <a:latin typeface="Trebuchet MS" pitchFamily="34" charset="0"/>
              </a:rPr>
              <a:t>:</a:t>
            </a:r>
            <a:r>
              <a:rPr lang="en-US" sz="2400" dirty="0" smtClean="0">
                <a:latin typeface="Trebuchet MS" pitchFamily="34" charset="0"/>
              </a:rPr>
              <a:t/>
            </a:r>
            <a:br>
              <a:rPr lang="en-US" sz="2400" dirty="0" smtClean="0">
                <a:latin typeface="Trebuchet MS" pitchFamily="34" charset="0"/>
              </a:rPr>
            </a:br>
            <a:r>
              <a:rPr lang="en-US" sz="2000" dirty="0">
                <a:latin typeface="+mj-lt"/>
              </a:rPr>
              <a:t>A use case diagram is a graphical depiction of a user's possible interactions with a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5249" y="2973741"/>
            <a:ext cx="1030246" cy="45719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3438144" y="2973741"/>
            <a:ext cx="1030246" cy="45719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972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4" b="1569"/>
          <a:stretch/>
        </p:blipFill>
        <p:spPr>
          <a:xfrm>
            <a:off x="-135969" y="0"/>
            <a:ext cx="7129938" cy="5260428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203157" y="5576547"/>
            <a:ext cx="4914098" cy="448576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rebuchet MS" panose="020B0603020202020204" pitchFamily="34" charset="0"/>
              </a:rPr>
              <a:t>Use case Diagram</a:t>
            </a:r>
            <a:endParaRPr lang="en-US" sz="2400" dirty="0">
              <a:latin typeface="Trebuchet MS" panose="020B0603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71358" y="5912290"/>
            <a:ext cx="319519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b="1" u="sng" dirty="0" smtClean="0"/>
              <a:t>Exclude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Workshop</a:t>
            </a:r>
            <a:br>
              <a:rPr lang="en-US" dirty="0" smtClean="0"/>
            </a:br>
            <a:r>
              <a:rPr lang="en-US" dirty="0" smtClean="0"/>
              <a:t>Blog</a:t>
            </a:r>
            <a:br>
              <a:rPr lang="en-US" dirty="0" smtClean="0"/>
            </a:br>
            <a:r>
              <a:rPr lang="en-US" dirty="0" smtClean="0"/>
              <a:t>Video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62412" y="6464966"/>
            <a:ext cx="12380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Actor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Admin</a:t>
            </a:r>
            <a:br>
              <a:rPr lang="en-US" dirty="0"/>
            </a:br>
            <a:r>
              <a:rPr lang="en-US" dirty="0"/>
              <a:t>User</a:t>
            </a:r>
            <a:br>
              <a:rPr lang="en-US" dirty="0"/>
            </a:b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817581" y="6469542"/>
            <a:ext cx="241954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err="1"/>
              <a:t>Usecase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Complain</a:t>
            </a:r>
            <a:br>
              <a:rPr lang="en-US" dirty="0"/>
            </a:br>
            <a:r>
              <a:rPr lang="en-US" dirty="0"/>
              <a:t>Collect data</a:t>
            </a:r>
            <a:br>
              <a:rPr lang="en-US" dirty="0"/>
            </a:br>
            <a:r>
              <a:rPr lang="en-US" dirty="0" err="1"/>
              <a:t>Analyse</a:t>
            </a:r>
            <a:r>
              <a:rPr lang="en-US" dirty="0"/>
              <a:t> data</a:t>
            </a:r>
            <a:br>
              <a:rPr lang="en-US" dirty="0"/>
            </a:br>
            <a:r>
              <a:rPr lang="en-US" dirty="0"/>
              <a:t>Action for help</a:t>
            </a:r>
            <a:br>
              <a:rPr lang="en-US" dirty="0"/>
            </a:br>
            <a:r>
              <a:rPr lang="en-US" dirty="0"/>
              <a:t>Awareness</a:t>
            </a:r>
            <a:br>
              <a:rPr lang="en-US" dirty="0"/>
            </a:br>
            <a:r>
              <a:rPr lang="en-US" dirty="0"/>
              <a:t>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6443" y="6485584"/>
            <a:ext cx="16683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Include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Evidence</a:t>
            </a:r>
          </a:p>
        </p:txBody>
      </p:sp>
    </p:spTree>
    <p:extLst>
      <p:ext uri="{BB962C8B-B14F-4D97-AF65-F5344CB8AC3E}">
        <p14:creationId xmlns:p14="http://schemas.microsoft.com/office/powerpoint/2010/main" val="2137618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4350" y="4790768"/>
            <a:ext cx="5620979" cy="2716940"/>
          </a:xfrm>
        </p:spPr>
        <p:txBody>
          <a:bodyPr>
            <a:normAutofit/>
          </a:bodyPr>
          <a:lstStyle/>
          <a:p>
            <a:pPr algn="l"/>
            <a:r>
              <a:rPr lang="bn-BD" sz="2000" b="1" u="sng" dirty="0" smtClean="0">
                <a:latin typeface="Trebuchet MS" pitchFamily="34" charset="0"/>
              </a:rPr>
              <a:t>ER Diagram</a:t>
            </a:r>
            <a:r>
              <a:rPr lang="en-US" sz="2000" b="1" u="sng" dirty="0" smtClean="0">
                <a:latin typeface="Trebuchet MS" pitchFamily="34" charset="0"/>
              </a:rPr>
              <a:t>:</a:t>
            </a:r>
            <a:r>
              <a:rPr lang="en-US" sz="2000" dirty="0" smtClean="0">
                <a:latin typeface="+mj-lt"/>
              </a:rPr>
              <a:t/>
            </a:r>
            <a:br>
              <a:rPr lang="en-US" sz="2000" dirty="0" smtClean="0">
                <a:latin typeface="+mj-lt"/>
              </a:rPr>
            </a:br>
            <a:r>
              <a:rPr lang="en-US" dirty="0">
                <a:latin typeface="+mj-lt"/>
              </a:rPr>
              <a:t>An Entity–relationship model (</a:t>
            </a:r>
            <a:r>
              <a:rPr lang="en-US" b="1" dirty="0">
                <a:latin typeface="+mj-lt"/>
              </a:rPr>
              <a:t>ER model</a:t>
            </a:r>
            <a:r>
              <a:rPr lang="en-US" dirty="0">
                <a:latin typeface="+mj-lt"/>
              </a:rPr>
              <a:t>) describes the structure of a database with the help of a diagram, which is known as </a:t>
            </a:r>
            <a:r>
              <a:rPr lang="en-US" b="1" dirty="0">
                <a:latin typeface="+mj-lt"/>
              </a:rPr>
              <a:t>Entity Relationship Diagram</a:t>
            </a:r>
            <a:endParaRPr lang="en-US" sz="2000" dirty="0">
              <a:latin typeface="+mj-lt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514350" y="2064774"/>
            <a:ext cx="5829300" cy="166307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</a:rPr>
              <a:t>Chapter  </a:t>
            </a:r>
            <a:br>
              <a:rPr lang="en-US" sz="3200" b="1" dirty="0" smtClean="0">
                <a:solidFill>
                  <a:srgbClr val="C00000"/>
                </a:solidFill>
              </a:rPr>
            </a:br>
            <a:r>
              <a:rPr lang="bn-BD" sz="3200" b="1" dirty="0" smtClean="0">
                <a:latin typeface="Trebuchet MS" panose="020B0603020202020204" pitchFamily="34" charset="0"/>
              </a:rPr>
              <a:t>ER Diagram</a:t>
            </a:r>
            <a:r>
              <a:rPr lang="en-US" sz="3200" dirty="0"/>
              <a:t/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5" name="Rounded Rectangle 4"/>
          <p:cNvSpPr/>
          <p:nvPr/>
        </p:nvSpPr>
        <p:spPr>
          <a:xfrm>
            <a:off x="2349493" y="3298207"/>
            <a:ext cx="1030246" cy="45719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3482388" y="3298207"/>
            <a:ext cx="1030246" cy="45719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52402" y="152400"/>
            <a:ext cx="6434666" cy="96012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150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52402" y="152400"/>
            <a:ext cx="6434666" cy="96012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968308" y="806761"/>
            <a:ext cx="4742893" cy="213748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Chapter </a:t>
            </a:r>
            <a:r>
              <a:rPr lang="en-US" sz="3200" b="1" dirty="0" smtClean="0">
                <a:solidFill>
                  <a:srgbClr val="C00000"/>
                </a:solidFill>
              </a:rPr>
              <a:t>5</a:t>
            </a:r>
            <a:r>
              <a:rPr lang="en-US" sz="3200" dirty="0"/>
              <a:t/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12" name="TextBox 11"/>
          <p:cNvSpPr txBox="1"/>
          <p:nvPr/>
        </p:nvSpPr>
        <p:spPr>
          <a:xfrm>
            <a:off x="607485" y="4552606"/>
            <a:ext cx="55245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 smtClean="0">
                <a:latin typeface="Trebuchet MS" pitchFamily="34" charset="0"/>
              </a:rPr>
              <a:t>Feature:</a:t>
            </a:r>
            <a:br>
              <a:rPr lang="en-US" sz="2000" b="1" u="sng" dirty="0" smtClean="0">
                <a:latin typeface="Trebuchet MS" pitchFamily="34" charset="0"/>
              </a:rPr>
            </a:br>
            <a:r>
              <a:rPr lang="en-US" sz="2000" dirty="0">
                <a:latin typeface="+mj-lt"/>
              </a:rPr>
              <a:t>A </a:t>
            </a:r>
            <a:r>
              <a:rPr lang="en-US" sz="2000" b="1" dirty="0">
                <a:latin typeface="+mj-lt"/>
              </a:rPr>
              <a:t>feature specification</a:t>
            </a:r>
            <a:r>
              <a:rPr lang="en-US" sz="2000" dirty="0">
                <a:latin typeface="+mj-lt"/>
              </a:rPr>
              <a:t> is a written description of a feature of a system. · A feature of a system is user-visible aspect of the system that provides the user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75753" y="2973741"/>
            <a:ext cx="1030246" cy="45719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3408648" y="2973741"/>
            <a:ext cx="1030246" cy="45719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2092427" y="2121832"/>
            <a:ext cx="6520631" cy="8224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000" b="1" dirty="0" smtClean="0">
                <a:latin typeface="Trebuchet MS" panose="020B0603020202020204" pitchFamily="34" charset="0"/>
              </a:rPr>
              <a:t>Features List</a:t>
            </a:r>
            <a:endParaRPr lang="en-US" sz="3000" b="1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7835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5702" y="1129134"/>
            <a:ext cx="6268065" cy="8185355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Registration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page &amp; backend mechanism 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1.1.  Multilingual registration screen </a:t>
            </a:r>
            <a:b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1.2.  Enter basic information about a user </a:t>
            </a:r>
            <a:b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1.3.  Email/password combination for </a:t>
            </a:r>
            <a:r>
              <a:rPr lang="en-US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1.4.  OTP support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1.5.  General OAuth 2.0 support </a:t>
            </a:r>
            <a:b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1.5.1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Google </a:t>
            </a:r>
            <a:b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1.5.2. 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Facebook 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1.5.3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Linkedin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Login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page &amp; backend mechanism 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2.1. 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Multilingual login screen 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2.2. 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Email/password combination to log in 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2.3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Ability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restore password</a:t>
            </a:r>
            <a:b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Dashboard(Home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page &amp; API 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methods	</a:t>
            </a:r>
            <a:b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	3.1.  </a:t>
            </a:r>
            <a:r>
              <a:rPr lang="bn-BD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Favorites and Recent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cards 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bn-BD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Store the task user 	        add into thier fav list or thier recent activity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3.2.  </a:t>
            </a:r>
            <a:r>
              <a:rPr lang="bn-BD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Featured Collection 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bn-BD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 featured for the user 	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</a:t>
            </a:r>
            <a:r>
              <a:rPr lang="bn-BD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profile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b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	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3.3.  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Daily Round Activity(</a:t>
            </a:r>
            <a:r>
              <a:rPr lang="en-US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Morning,Afternoon,Night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	        three category will be displayed)</a:t>
            </a:r>
            <a:b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3.4.  </a:t>
            </a: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Backend 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works to support API for stats </a:t>
            </a: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       and table 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 </a:t>
            </a: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scans.</a:t>
            </a:r>
            <a:r>
              <a:rPr 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2402" y="152400"/>
            <a:ext cx="6434666" cy="96012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113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174214" y="925651"/>
            <a:ext cx="6268065" cy="8185355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 Specific Function Page</a:t>
            </a:r>
            <a:b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4.1.  Meditation</a:t>
            </a:r>
            <a:b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-Featured(like </a:t>
            </a:r>
            <a:r>
              <a:rPr lang="en-US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Basic,Breathe,Letting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go of 		stress) </a:t>
            </a:r>
            <a:b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-Recent</a:t>
            </a:r>
            <a:b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-Explore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Meditate Task(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Guidance,Step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step 		Card)</a:t>
            </a:r>
            <a:b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4.2.  Sleep</a:t>
            </a:r>
            <a:b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-Featured(</a:t>
            </a:r>
            <a:r>
              <a:rPr lang="en-US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Music,Story,Podecast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b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-Recent</a:t>
            </a:r>
            <a:b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-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Explore Sleep(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Guidance,Step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step Card)</a:t>
            </a:r>
            <a:b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4.3.  Move</a:t>
            </a:r>
            <a:b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-Featured(</a:t>
            </a:r>
            <a:r>
              <a:rPr lang="en-US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Task,Exercise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b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-Recent</a:t>
            </a:r>
            <a:b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-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Explore Move(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Guidance,Step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step card)</a:t>
            </a:r>
            <a:b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4.4.   Focus</a:t>
            </a:r>
            <a:b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-Featured(</a:t>
            </a:r>
            <a:r>
              <a:rPr lang="en-US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Breathing,Thoughts</a:t>
            </a:r>
            <a:r>
              <a:rPr lang="en-US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,Yoga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b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-Recent</a:t>
            </a:r>
            <a:b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	-Explore Focus(</a:t>
            </a:r>
            <a:r>
              <a:rPr lang="en-US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Guidance,Step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by step cards)</a:t>
            </a:r>
            <a:b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5.   Profile</a:t>
            </a:r>
            <a:b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5.1.   Reflect (User </a:t>
            </a:r>
            <a:r>
              <a:rPr lang="en-US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progress,Check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out of activity)</a:t>
            </a:r>
            <a:b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5.2.   Stats (Starting to end journey Statistics)</a:t>
            </a:r>
            <a:b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5.3.   Buddies (Connecting with friends for 		         progress and quality time)</a:t>
            </a:r>
            <a:b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5.4.   Settings (Account and </a:t>
            </a:r>
            <a:r>
              <a:rPr lang="en-US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Subscription,Notification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</a:t>
            </a:r>
            <a:b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         </a:t>
            </a:r>
            <a:r>
              <a:rPr lang="en-US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Terms,User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Data)</a:t>
            </a:r>
            <a:b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2402" y="152400"/>
            <a:ext cx="6434666" cy="96012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809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336446" y="571690"/>
            <a:ext cx="6268065" cy="8185355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 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Super Admin Feature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6.1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 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Dashboard View and </a:t>
            </a:r>
            <a:r>
              <a:rPr lang="en-US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Controling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6.2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User Subscription Management</a:t>
            </a:r>
            <a:b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6.3.  </a:t>
            </a:r>
            <a:r>
              <a:rPr lang="en-US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AccountProfile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Management</a:t>
            </a:r>
            <a:b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6.4. 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Backend API methods to get data, edit </a:t>
            </a:r>
            <a:r>
              <a:rPr 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      information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manage information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7.   Non-Register User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b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	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7.1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All Existing Page and Service provided for 7 	        days trial version.</a:t>
            </a:r>
            <a:b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7.2.   Excluding Explore section(</a:t>
            </a:r>
            <a:r>
              <a:rPr lang="en-US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Guidance,Step</a:t>
            </a:r>
            <a:r>
              <a:rPr 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by 	        step Cards)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endParaRPr lang="en-US" sz="2000" b="1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2402" y="152400"/>
            <a:ext cx="6434666" cy="96012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259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4350" y="4790768"/>
            <a:ext cx="5620979" cy="2716940"/>
          </a:xfrm>
        </p:spPr>
        <p:txBody>
          <a:bodyPr>
            <a:normAutofit/>
          </a:bodyPr>
          <a:lstStyle/>
          <a:p>
            <a:pPr algn="l"/>
            <a:r>
              <a:rPr lang="en-US" sz="2000" b="1" u="sng" dirty="0" smtClean="0">
                <a:latin typeface="Trebuchet MS" pitchFamily="34" charset="0"/>
              </a:rPr>
              <a:t>Database Table:</a:t>
            </a:r>
            <a:r>
              <a:rPr lang="en-US" sz="2000" dirty="0" smtClean="0">
                <a:latin typeface="+mj-lt"/>
              </a:rPr>
              <a:t/>
            </a:r>
            <a:br>
              <a:rPr lang="en-US" sz="2000" dirty="0" smtClean="0">
                <a:latin typeface="+mj-lt"/>
              </a:rPr>
            </a:br>
            <a:r>
              <a:rPr lang="en-US" sz="2000" dirty="0" smtClean="0">
                <a:latin typeface="+mj-lt"/>
              </a:rPr>
              <a:t>A</a:t>
            </a:r>
            <a:r>
              <a:rPr lang="en-US" sz="2000" dirty="0">
                <a:latin typeface="+mj-lt"/>
              </a:rPr>
              <a:t> </a:t>
            </a:r>
            <a:r>
              <a:rPr lang="en-US" sz="2000" b="1" dirty="0">
                <a:latin typeface="+mj-lt"/>
              </a:rPr>
              <a:t>table</a:t>
            </a:r>
            <a:r>
              <a:rPr lang="en-US" sz="2000" dirty="0">
                <a:latin typeface="+mj-lt"/>
              </a:rPr>
              <a:t> is a collection of related data held in a </a:t>
            </a:r>
            <a:r>
              <a:rPr lang="en-US" sz="2000" b="1" dirty="0">
                <a:latin typeface="+mj-lt"/>
              </a:rPr>
              <a:t>table</a:t>
            </a:r>
            <a:r>
              <a:rPr lang="en-US" sz="2000" dirty="0">
                <a:latin typeface="+mj-lt"/>
              </a:rPr>
              <a:t> format within </a:t>
            </a:r>
            <a:r>
              <a:rPr lang="en-US" sz="2000" dirty="0" smtClean="0">
                <a:latin typeface="+mj-lt"/>
              </a:rPr>
              <a:t>manipulate data. </a:t>
            </a:r>
            <a:r>
              <a:rPr lang="en-US" sz="2000" dirty="0">
                <a:latin typeface="+mj-lt"/>
              </a:rPr>
              <a:t>It consists of columns and rows.</a:t>
            </a:r>
            <a:endParaRPr lang="en-US" sz="2000" dirty="0">
              <a:latin typeface="+mj-lt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514350" y="2064774"/>
            <a:ext cx="5829300" cy="166307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Chapter </a:t>
            </a:r>
            <a:r>
              <a:rPr lang="en-US" sz="3200" b="1" dirty="0" smtClean="0">
                <a:solidFill>
                  <a:srgbClr val="C00000"/>
                </a:solidFill>
              </a:rPr>
              <a:t>5</a:t>
            </a:r>
            <a:br>
              <a:rPr lang="en-US" sz="3200" b="1" dirty="0" smtClean="0">
                <a:solidFill>
                  <a:srgbClr val="C00000"/>
                </a:solidFill>
              </a:rPr>
            </a:br>
            <a:r>
              <a:rPr lang="en-US" sz="3200" b="1" dirty="0" smtClean="0">
                <a:latin typeface="Trebuchet MS" panose="020B0603020202020204" pitchFamily="34" charset="0"/>
              </a:rPr>
              <a:t>Database Table</a:t>
            </a:r>
            <a:r>
              <a:rPr lang="en-US" sz="3200" dirty="0"/>
              <a:t/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5" name="Rounded Rectangle 4"/>
          <p:cNvSpPr/>
          <p:nvPr/>
        </p:nvSpPr>
        <p:spPr>
          <a:xfrm>
            <a:off x="2349493" y="3298207"/>
            <a:ext cx="1030246" cy="45719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3482388" y="3298207"/>
            <a:ext cx="1030246" cy="45719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52402" y="152400"/>
            <a:ext cx="6434666" cy="96012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998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4350" y="4790768"/>
            <a:ext cx="5620979" cy="2716940"/>
          </a:xfrm>
        </p:spPr>
        <p:txBody>
          <a:bodyPr>
            <a:normAutofit/>
          </a:bodyPr>
          <a:lstStyle/>
          <a:p>
            <a:pPr algn="l"/>
            <a:r>
              <a:rPr lang="en-US" sz="2000" b="1" u="sng" dirty="0" smtClean="0">
                <a:latin typeface="Trebuchet MS" pitchFamily="34" charset="0"/>
              </a:rPr>
              <a:t>Database Table:</a:t>
            </a:r>
            <a:r>
              <a:rPr lang="en-US" sz="2000" dirty="0" smtClean="0">
                <a:latin typeface="+mj-lt"/>
              </a:rPr>
              <a:t/>
            </a:r>
            <a:br>
              <a:rPr lang="en-US" sz="2000" dirty="0" smtClean="0">
                <a:latin typeface="+mj-lt"/>
              </a:rPr>
            </a:br>
            <a:r>
              <a:rPr lang="en-US" sz="2000" dirty="0" smtClean="0">
                <a:latin typeface="+mj-lt"/>
              </a:rPr>
              <a:t>A</a:t>
            </a:r>
            <a:r>
              <a:rPr lang="en-US" sz="2000" dirty="0">
                <a:latin typeface="+mj-lt"/>
              </a:rPr>
              <a:t> </a:t>
            </a:r>
            <a:r>
              <a:rPr lang="en-US" sz="2000" b="1" dirty="0">
                <a:latin typeface="+mj-lt"/>
              </a:rPr>
              <a:t>table</a:t>
            </a:r>
            <a:r>
              <a:rPr lang="en-US" sz="2000" dirty="0">
                <a:latin typeface="+mj-lt"/>
              </a:rPr>
              <a:t> is a collection of related data held in a </a:t>
            </a:r>
            <a:r>
              <a:rPr lang="en-US" sz="2000" b="1" dirty="0">
                <a:latin typeface="+mj-lt"/>
              </a:rPr>
              <a:t>table</a:t>
            </a:r>
            <a:r>
              <a:rPr lang="en-US" sz="2000" dirty="0">
                <a:latin typeface="+mj-lt"/>
              </a:rPr>
              <a:t> format within </a:t>
            </a:r>
            <a:r>
              <a:rPr lang="en-US" sz="2000" dirty="0" smtClean="0">
                <a:latin typeface="+mj-lt"/>
              </a:rPr>
              <a:t>manipulate data. </a:t>
            </a:r>
            <a:r>
              <a:rPr lang="en-US" sz="2000" dirty="0">
                <a:latin typeface="+mj-lt"/>
              </a:rPr>
              <a:t>It consists of columns and rows.</a:t>
            </a:r>
            <a:endParaRPr lang="en-US" sz="2000" dirty="0">
              <a:latin typeface="+mj-lt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514350" y="2064774"/>
            <a:ext cx="5829300" cy="166307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Chapter </a:t>
            </a:r>
            <a:r>
              <a:rPr lang="bn-BD" sz="3200" dirty="0">
                <a:solidFill>
                  <a:srgbClr val="C00000"/>
                </a:solidFill>
              </a:rPr>
              <a:t>6</a:t>
            </a:r>
            <a:r>
              <a:rPr lang="en-US" sz="3200" b="1" dirty="0" smtClean="0">
                <a:solidFill>
                  <a:srgbClr val="C00000"/>
                </a:solidFill>
              </a:rPr>
              <a:t/>
            </a:r>
            <a:br>
              <a:rPr lang="en-US" sz="3200" b="1" dirty="0" smtClean="0">
                <a:solidFill>
                  <a:srgbClr val="C00000"/>
                </a:solidFill>
              </a:rPr>
            </a:br>
            <a:r>
              <a:rPr lang="bn-BD" sz="3200" b="1" dirty="0" smtClean="0">
                <a:latin typeface="Trebuchet MS" panose="020B0603020202020204" pitchFamily="34" charset="0"/>
              </a:rPr>
              <a:t>Test Case</a:t>
            </a:r>
            <a:r>
              <a:rPr lang="en-US" sz="3200" dirty="0"/>
              <a:t/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5" name="Rounded Rectangle 4"/>
          <p:cNvSpPr/>
          <p:nvPr/>
        </p:nvSpPr>
        <p:spPr>
          <a:xfrm>
            <a:off x="2349493" y="3298207"/>
            <a:ext cx="1030246" cy="45719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3482388" y="3298207"/>
            <a:ext cx="1030246" cy="45719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52402" y="152400"/>
            <a:ext cx="6434666" cy="96012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724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4350" y="4790768"/>
            <a:ext cx="5620979" cy="2716940"/>
          </a:xfrm>
        </p:spPr>
        <p:txBody>
          <a:bodyPr>
            <a:normAutofit/>
          </a:bodyPr>
          <a:lstStyle/>
          <a:p>
            <a:pPr algn="l"/>
            <a:r>
              <a:rPr lang="en-US" sz="2000" b="1" u="sng" dirty="0" smtClean="0">
                <a:latin typeface="Trebuchet MS" pitchFamily="34" charset="0"/>
              </a:rPr>
              <a:t>Database Table:</a:t>
            </a:r>
            <a:r>
              <a:rPr lang="en-US" sz="2000" dirty="0" smtClean="0">
                <a:latin typeface="+mj-lt"/>
              </a:rPr>
              <a:t/>
            </a:r>
            <a:br>
              <a:rPr lang="en-US" sz="2000" dirty="0" smtClean="0">
                <a:latin typeface="+mj-lt"/>
              </a:rPr>
            </a:br>
            <a:r>
              <a:rPr lang="en-US" sz="2000" dirty="0" smtClean="0">
                <a:latin typeface="+mj-lt"/>
              </a:rPr>
              <a:t>A</a:t>
            </a:r>
            <a:r>
              <a:rPr lang="en-US" sz="2000" dirty="0">
                <a:latin typeface="+mj-lt"/>
              </a:rPr>
              <a:t> </a:t>
            </a:r>
            <a:r>
              <a:rPr lang="en-US" sz="2000" b="1" dirty="0">
                <a:latin typeface="+mj-lt"/>
              </a:rPr>
              <a:t>table</a:t>
            </a:r>
            <a:r>
              <a:rPr lang="en-US" sz="2000" dirty="0">
                <a:latin typeface="+mj-lt"/>
              </a:rPr>
              <a:t> is a collection of related data held in a </a:t>
            </a:r>
            <a:r>
              <a:rPr lang="en-US" sz="2000" b="1" dirty="0">
                <a:latin typeface="+mj-lt"/>
              </a:rPr>
              <a:t>table</a:t>
            </a:r>
            <a:r>
              <a:rPr lang="en-US" sz="2000" dirty="0">
                <a:latin typeface="+mj-lt"/>
              </a:rPr>
              <a:t> format within </a:t>
            </a:r>
            <a:r>
              <a:rPr lang="en-US" sz="2000" dirty="0" smtClean="0">
                <a:latin typeface="+mj-lt"/>
              </a:rPr>
              <a:t>manipulate data. </a:t>
            </a:r>
            <a:r>
              <a:rPr lang="en-US" sz="2000" dirty="0">
                <a:latin typeface="+mj-lt"/>
              </a:rPr>
              <a:t>It consists of columns and rows.</a:t>
            </a:r>
            <a:endParaRPr lang="en-US" sz="2000" dirty="0">
              <a:latin typeface="+mj-lt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514350" y="2064774"/>
            <a:ext cx="5829300" cy="166307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Chapter </a:t>
            </a:r>
            <a:r>
              <a:rPr lang="en-US" sz="3200" b="1" dirty="0" smtClean="0">
                <a:solidFill>
                  <a:srgbClr val="C00000"/>
                </a:solidFill>
              </a:rPr>
              <a:t/>
            </a:r>
            <a:br>
              <a:rPr lang="en-US" sz="3200" b="1" dirty="0" smtClean="0">
                <a:solidFill>
                  <a:srgbClr val="C00000"/>
                </a:solidFill>
              </a:rPr>
            </a:br>
            <a:r>
              <a:rPr lang="bn-BD" sz="3200" b="1" dirty="0" smtClean="0">
                <a:latin typeface="Trebuchet MS" panose="020B0603020202020204" pitchFamily="34" charset="0"/>
              </a:rPr>
              <a:t>StoryBoard</a:t>
            </a:r>
            <a:r>
              <a:rPr lang="en-US" sz="3200" dirty="0"/>
              <a:t/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5" name="Rounded Rectangle 4"/>
          <p:cNvSpPr/>
          <p:nvPr/>
        </p:nvSpPr>
        <p:spPr>
          <a:xfrm>
            <a:off x="2349493" y="3298207"/>
            <a:ext cx="1030246" cy="45719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3482388" y="3298207"/>
            <a:ext cx="1030246" cy="45719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52402" y="152400"/>
            <a:ext cx="6434666" cy="96012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081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" y="6546256"/>
            <a:ext cx="6724650" cy="3200400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455358" y="12150"/>
            <a:ext cx="5829300" cy="16630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 smtClean="0">
                <a:solidFill>
                  <a:srgbClr val="C00000"/>
                </a:solidFill>
              </a:rPr>
              <a:t>  </a:t>
            </a:r>
            <a:br>
              <a:rPr lang="en-US" sz="3200" b="1" dirty="0" smtClean="0">
                <a:solidFill>
                  <a:srgbClr val="C00000"/>
                </a:solidFill>
              </a:rPr>
            </a:br>
            <a:r>
              <a:rPr lang="bn-BD" sz="3200" b="1" dirty="0" smtClean="0">
                <a:latin typeface="Trebuchet MS" panose="020B0603020202020204" pitchFamily="34" charset="0"/>
              </a:rPr>
              <a:t>Diagram</a:t>
            </a:r>
            <a:r>
              <a:rPr lang="en-US" sz="3200" dirty="0" smtClean="0"/>
              <a:t/>
            </a:r>
            <a:br>
              <a:rPr lang="en-US" sz="3200" dirty="0" smtClean="0"/>
            </a:br>
            <a:endParaRPr lang="en-US" sz="3200" dirty="0"/>
          </a:p>
        </p:txBody>
      </p:sp>
      <p:sp>
        <p:nvSpPr>
          <p:cNvPr id="7" name="Rounded Rectangle 6"/>
          <p:cNvSpPr/>
          <p:nvPr/>
        </p:nvSpPr>
        <p:spPr>
          <a:xfrm>
            <a:off x="2290501" y="1245583"/>
            <a:ext cx="1030246" cy="45719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3423396" y="1245583"/>
            <a:ext cx="1030246" cy="45719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592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536</TotalTime>
  <Words>259</Words>
  <Application>Microsoft Office PowerPoint</Application>
  <PresentationFormat>A4 Paper (210x297 mm)</PresentationFormat>
  <Paragraphs>127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Berlin Sans FB</vt:lpstr>
      <vt:lpstr>Calibri</vt:lpstr>
      <vt:lpstr>Calibri Light</vt:lpstr>
      <vt:lpstr>Comic Sans MS</vt:lpstr>
      <vt:lpstr>Tahoma</vt:lpstr>
      <vt:lpstr>Trebuchet MS</vt:lpstr>
      <vt:lpstr>Vrinda</vt:lpstr>
      <vt:lpstr>Office Theme</vt:lpstr>
      <vt:lpstr>PowerPoint Presentation</vt:lpstr>
      <vt:lpstr>PowerPoint Presentation</vt:lpstr>
      <vt:lpstr>  The purpose of this document is to describe about our project named PEACE (A Relaxation in your Pocket)with first release. This document contains the functional and non-functional requirements of the project and also user profile, use case, database and storyboard. This document contains the guidelines for system engineers and designers to start working the project. </vt:lpstr>
      <vt:lpstr>Chapter 2 User Profile</vt:lpstr>
      <vt:lpstr>PowerPoint Presentation</vt:lpstr>
      <vt:lpstr>PowerPoint Presentation</vt:lpstr>
      <vt:lpstr>Chapter 3 Functional Requirement &amp; Non-Functional Requirement</vt:lpstr>
      <vt:lpstr>PowerPoint Presentation</vt:lpstr>
      <vt:lpstr>PowerPoint Presentation</vt:lpstr>
      <vt:lpstr>Chapter 4 Use Case Diagram</vt:lpstr>
      <vt:lpstr>Use case Diagram</vt:lpstr>
      <vt:lpstr>Chapter   ER Diagram </vt:lpstr>
      <vt:lpstr>Chapter 5 </vt:lpstr>
      <vt:lpstr>PowerPoint Presentation</vt:lpstr>
      <vt:lpstr>PowerPoint Presentation</vt:lpstr>
      <vt:lpstr>PowerPoint Presentation</vt:lpstr>
      <vt:lpstr>Chapter 5 Database Table </vt:lpstr>
      <vt:lpstr>Chapter 6 Test Case </vt:lpstr>
      <vt:lpstr>Chapter  StoryBoard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38</cp:revision>
  <dcterms:created xsi:type="dcterms:W3CDTF">2022-03-10T17:25:37Z</dcterms:created>
  <dcterms:modified xsi:type="dcterms:W3CDTF">2022-03-14T19:10:03Z</dcterms:modified>
</cp:coreProperties>
</file>